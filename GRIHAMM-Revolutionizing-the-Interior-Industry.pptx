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01"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1148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30791"/>
          </a:xfrm>
          <a:prstGeom prst="rect">
            <a:avLst/>
          </a:prstGeom>
          <a:solidFill>
            <a:srgbClr val="FFF8F0"/>
          </a:solidFill>
          <a:ln w="13335">
            <a:solidFill>
              <a:srgbClr val="E5E0DF"/>
            </a:solidFill>
            <a:prstDash val="solid"/>
          </a:ln>
        </p:spPr>
        <p:txBody>
          <a:bodyPr/>
          <a:lstStyle/>
          <a:p>
            <a:endParaRPr lang="en-IN"/>
          </a:p>
        </p:txBody>
      </p:sp>
      <p:sp>
        <p:nvSpPr>
          <p:cNvPr id="4" name="Text 2"/>
          <p:cNvSpPr/>
          <p:nvPr/>
        </p:nvSpPr>
        <p:spPr>
          <a:xfrm>
            <a:off x="6291263" y="590193"/>
            <a:ext cx="7534275" cy="2414588"/>
          </a:xfrm>
          <a:prstGeom prst="rect">
            <a:avLst/>
          </a:prstGeom>
          <a:noFill/>
          <a:ln/>
        </p:spPr>
        <p:txBody>
          <a:bodyPr wrap="square" rtlCol="0" anchor="t"/>
          <a:lstStyle/>
          <a:p>
            <a:pPr marL="0" indent="0">
              <a:lnSpc>
                <a:spcPts val="6338"/>
              </a:lnSpc>
              <a:buNone/>
            </a:pPr>
            <a:r>
              <a:rPr lang="en-US" sz="5070" kern="0" spc="-152" dirty="0">
                <a:solidFill>
                  <a:srgbClr val="2C3F42"/>
                </a:solidFill>
                <a:latin typeface="Bitter" pitchFamily="34" charset="0"/>
                <a:ea typeface="Bitter" pitchFamily="34" charset="-122"/>
                <a:cs typeface="Bitter" pitchFamily="34" charset="-120"/>
              </a:rPr>
              <a:t>GRIHAMM: Revolutionizing the Interior Industry</a:t>
            </a:r>
            <a:endParaRPr lang="en-US" sz="5070" dirty="0"/>
          </a:p>
        </p:txBody>
      </p:sp>
      <p:sp>
        <p:nvSpPr>
          <p:cNvPr id="5" name="Text 3"/>
          <p:cNvSpPr/>
          <p:nvPr/>
        </p:nvSpPr>
        <p:spPr>
          <a:xfrm>
            <a:off x="6291263" y="3326725"/>
            <a:ext cx="7534275" cy="2747010"/>
          </a:xfrm>
          <a:prstGeom prst="rect">
            <a:avLst/>
          </a:prstGeom>
          <a:noFill/>
          <a:ln/>
        </p:spPr>
        <p:txBody>
          <a:bodyPr wrap="square" rtlCol="0" anchor="t"/>
          <a:lstStyle/>
          <a:p>
            <a:pPr marL="0" indent="0">
              <a:lnSpc>
                <a:spcPts val="2704"/>
              </a:lnSpc>
              <a:buNone/>
            </a:pPr>
            <a:r>
              <a:rPr lang="en-US" sz="1690" kern="0" spc="-34" dirty="0">
                <a:solidFill>
                  <a:srgbClr val="2B2E3C"/>
                </a:solidFill>
                <a:latin typeface="Open Sans" pitchFamily="34" charset="0"/>
                <a:ea typeface="Open Sans" pitchFamily="34" charset="-122"/>
                <a:cs typeface="Open Sans" pitchFamily="34" charset="-120"/>
              </a:rPr>
              <a:t>GRIHAMM is a new platform that solves the problem of the unstructured interior industry by providing a phone app and web-based app that facilitate customers in choosing design models from the app AND connecting to nearby registered and verified designers as well as execution Teams. We will use the existing ecosystem of interior execution partners who are in the industry for 15 to 20 years but working in a discreet manner. We will enable the existing population of designers and execution team and take them in a polished and structured way to the market (LOT LIKE PRONTO)</a:t>
            </a:r>
            <a:endParaRPr lang="en-US" sz="1690" dirty="0"/>
          </a:p>
        </p:txBody>
      </p:sp>
      <p:sp>
        <p:nvSpPr>
          <p:cNvPr id="6" name="Text 4"/>
          <p:cNvSpPr/>
          <p:nvPr/>
        </p:nvSpPr>
        <p:spPr>
          <a:xfrm>
            <a:off x="6291263" y="6395680"/>
            <a:ext cx="3434239" cy="536615"/>
          </a:xfrm>
          <a:prstGeom prst="rect">
            <a:avLst/>
          </a:prstGeom>
          <a:noFill/>
          <a:ln/>
        </p:spPr>
        <p:txBody>
          <a:bodyPr wrap="none" rtlCol="0" anchor="t"/>
          <a:lstStyle/>
          <a:p>
            <a:pPr marL="0" indent="0">
              <a:lnSpc>
                <a:spcPts val="4225"/>
              </a:lnSpc>
              <a:buNone/>
            </a:pPr>
            <a:endParaRPr lang="en-US" sz="3380" dirty="0"/>
          </a:p>
        </p:txBody>
      </p:sp>
      <p:sp>
        <p:nvSpPr>
          <p:cNvPr id="7" name="Shape 5"/>
          <p:cNvSpPr/>
          <p:nvPr/>
        </p:nvSpPr>
        <p:spPr>
          <a:xfrm>
            <a:off x="6291263" y="7254240"/>
            <a:ext cx="343376" cy="343376"/>
          </a:xfrm>
          <a:prstGeom prst="roundRect">
            <a:avLst>
              <a:gd name="adj" fmla="val 26627037"/>
            </a:avLst>
          </a:prstGeom>
          <a:noFill/>
          <a:ln w="7620">
            <a:solidFill>
              <a:srgbClr val="FFFFFF"/>
            </a:solidFill>
            <a:prstDash val="solid"/>
          </a:ln>
        </p:spPr>
        <p:txBody>
          <a:bodyPr/>
          <a:lstStyle/>
          <a:p>
            <a:endParaRPr lang="en-IN"/>
          </a:p>
        </p:txBody>
      </p:sp>
      <p:pic>
        <p:nvPicPr>
          <p:cNvPr id="8" name="Image 0" descr="preencoded.png"/>
          <p:cNvPicPr>
            <a:picLocks noChangeAspect="1"/>
          </p:cNvPicPr>
          <p:nvPr/>
        </p:nvPicPr>
        <p:blipFill>
          <a:blip r:embed="rId3"/>
          <a:stretch>
            <a:fillRect/>
          </a:stretch>
        </p:blipFill>
        <p:spPr>
          <a:xfrm>
            <a:off x="6298882" y="7261860"/>
            <a:ext cx="328136" cy="328136"/>
          </a:xfrm>
          <a:prstGeom prst="rect">
            <a:avLst/>
          </a:prstGeom>
        </p:spPr>
      </p:pic>
      <p:sp>
        <p:nvSpPr>
          <p:cNvPr id="9" name="Text 6"/>
          <p:cNvSpPr/>
          <p:nvPr/>
        </p:nvSpPr>
        <p:spPr>
          <a:xfrm>
            <a:off x="6741914" y="7259598"/>
            <a:ext cx="2699742" cy="375642"/>
          </a:xfrm>
          <a:prstGeom prst="rect">
            <a:avLst/>
          </a:prstGeom>
          <a:noFill/>
          <a:ln/>
        </p:spPr>
        <p:txBody>
          <a:bodyPr wrap="none" rtlCol="0" anchor="t"/>
          <a:lstStyle/>
          <a:p>
            <a:pPr marL="0" indent="0" algn="l">
              <a:lnSpc>
                <a:spcPts val="2958"/>
              </a:lnSpc>
              <a:buNone/>
            </a:pPr>
            <a:r>
              <a:rPr lang="en-US" sz="2113" b="1" kern="0" spc="-34" dirty="0">
                <a:solidFill>
                  <a:srgbClr val="2B2E3C"/>
                </a:solidFill>
                <a:latin typeface="Open Sans" pitchFamily="34" charset="0"/>
                <a:ea typeface="Open Sans" pitchFamily="34" charset="-122"/>
                <a:cs typeface="Open Sans" pitchFamily="34" charset="-120"/>
              </a:rPr>
              <a:t>by Rimjhiim Charaan</a:t>
            </a:r>
            <a:endParaRPr lang="en-US" sz="2113" dirty="0"/>
          </a:p>
        </p:txBody>
      </p:sp>
      <p:pic>
        <p:nvPicPr>
          <p:cNvPr id="13" name="Picture 12">
            <a:extLst>
              <a:ext uri="{FF2B5EF4-FFF2-40B4-BE49-F238E27FC236}">
                <a16:creationId xmlns:a16="http://schemas.microsoft.com/office/drawing/2014/main" id="{B83789BA-F1E5-C860-D1E0-2A9CB7617ED1}"/>
              </a:ext>
            </a:extLst>
          </p:cNvPr>
          <p:cNvPicPr>
            <a:picLocks noChangeAspect="1"/>
          </p:cNvPicPr>
          <p:nvPr/>
        </p:nvPicPr>
        <p:blipFill>
          <a:blip r:embed="rId4"/>
          <a:stretch>
            <a:fillRect/>
          </a:stretch>
        </p:blipFill>
        <p:spPr>
          <a:xfrm>
            <a:off x="1074474" y="5240889"/>
            <a:ext cx="2148949" cy="214894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5" name="Picture 14">
            <a:extLst>
              <a:ext uri="{FF2B5EF4-FFF2-40B4-BE49-F238E27FC236}">
                <a16:creationId xmlns:a16="http://schemas.microsoft.com/office/drawing/2014/main" id="{D3AACA43-169D-1DC8-4B5C-2A2FC031EE7C}"/>
              </a:ext>
            </a:extLst>
          </p:cNvPr>
          <p:cNvPicPr>
            <a:picLocks noChangeAspect="1"/>
          </p:cNvPicPr>
          <p:nvPr/>
        </p:nvPicPr>
        <p:blipFill>
          <a:blip r:embed="rId5"/>
          <a:stretch>
            <a:fillRect/>
          </a:stretch>
        </p:blipFill>
        <p:spPr>
          <a:xfrm>
            <a:off x="1081160" y="2551281"/>
            <a:ext cx="2148949" cy="214894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7" name="Picture 16">
            <a:extLst>
              <a:ext uri="{FF2B5EF4-FFF2-40B4-BE49-F238E27FC236}">
                <a16:creationId xmlns:a16="http://schemas.microsoft.com/office/drawing/2014/main" id="{6FC5105A-A443-EF41-A10B-BA19CE146A0C}"/>
              </a:ext>
            </a:extLst>
          </p:cNvPr>
          <p:cNvPicPr>
            <a:picLocks noChangeAspect="1"/>
          </p:cNvPicPr>
          <p:nvPr/>
        </p:nvPicPr>
        <p:blipFill>
          <a:blip r:embed="rId6"/>
          <a:stretch>
            <a:fillRect/>
          </a:stretch>
        </p:blipFill>
        <p:spPr>
          <a:xfrm>
            <a:off x="741858" y="560202"/>
            <a:ext cx="2959288" cy="156595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29600"/>
          </a:xfrm>
          <a:prstGeom prst="rect">
            <a:avLst/>
          </a:prstGeom>
          <a:solidFill>
            <a:srgbClr val="FFF8F0"/>
          </a:solidFill>
          <a:ln w="11311">
            <a:solidFill>
              <a:srgbClr val="E5E0DF"/>
            </a:solidFill>
            <a:prstDash val="solid"/>
          </a:ln>
        </p:spPr>
        <p:txBody>
          <a:bodyPr/>
          <a:lstStyle/>
          <a:p>
            <a:endParaRPr lang="en-IN"/>
          </a:p>
        </p:txBody>
      </p:sp>
      <p:sp>
        <p:nvSpPr>
          <p:cNvPr id="4" name="Text 2"/>
          <p:cNvSpPr/>
          <p:nvPr/>
        </p:nvSpPr>
        <p:spPr>
          <a:xfrm>
            <a:off x="3010495" y="498634"/>
            <a:ext cx="4588073" cy="566380"/>
          </a:xfrm>
          <a:prstGeom prst="rect">
            <a:avLst/>
          </a:prstGeom>
          <a:noFill/>
          <a:ln/>
        </p:spPr>
        <p:txBody>
          <a:bodyPr wrap="none" rtlCol="0" anchor="t"/>
          <a:lstStyle/>
          <a:p>
            <a:pPr marL="0" indent="0">
              <a:lnSpc>
                <a:spcPts val="4460"/>
              </a:lnSpc>
              <a:buNone/>
            </a:pPr>
            <a:r>
              <a:rPr lang="en-US" sz="3568" kern="0" spc="-107" dirty="0">
                <a:solidFill>
                  <a:srgbClr val="2C3F42"/>
                </a:solidFill>
                <a:latin typeface="Bitter" pitchFamily="34" charset="0"/>
                <a:ea typeface="Bitter" pitchFamily="34" charset="-122"/>
                <a:cs typeface="Bitter" pitchFamily="34" charset="-120"/>
              </a:rPr>
              <a:t>Overview of GRIHAMM</a:t>
            </a:r>
            <a:endParaRPr lang="en-US" sz="3568" dirty="0"/>
          </a:p>
        </p:txBody>
      </p:sp>
      <p:sp>
        <p:nvSpPr>
          <p:cNvPr id="5" name="Text 3"/>
          <p:cNvSpPr/>
          <p:nvPr/>
        </p:nvSpPr>
        <p:spPr>
          <a:xfrm>
            <a:off x="3010495" y="1427440"/>
            <a:ext cx="8609290" cy="1159669"/>
          </a:xfrm>
          <a:prstGeom prst="rect">
            <a:avLst/>
          </a:prstGeom>
          <a:noFill/>
          <a:ln/>
        </p:spPr>
        <p:txBody>
          <a:bodyPr wrap="square" rtlCol="0" anchor="t"/>
          <a:lstStyle/>
          <a:p>
            <a:pPr marL="0" indent="0">
              <a:lnSpc>
                <a:spcPts val="2283"/>
              </a:lnSpc>
              <a:buNone/>
            </a:pPr>
            <a:r>
              <a:rPr lang="en-US" sz="1427" kern="0" spc="-29" dirty="0">
                <a:solidFill>
                  <a:srgbClr val="2B2E3C"/>
                </a:solidFill>
                <a:latin typeface="Open Sans" pitchFamily="34" charset="0"/>
                <a:ea typeface="Open Sans" pitchFamily="34" charset="-122"/>
                <a:cs typeface="Open Sans" pitchFamily="34" charset="-120"/>
              </a:rPr>
              <a:t>GRIHAMM is an innovative platform that revolutionizes the interior industry by providing customers with cutting-edge design solutions. With a user-friendly phone app and web-based app, GRIHAMM gives customers easy access to a wide range of design models and connects them to experienced and verified designers in their area.</a:t>
            </a:r>
            <a:endParaRPr lang="en-US" sz="1427" dirty="0"/>
          </a:p>
        </p:txBody>
      </p:sp>
      <p:sp>
        <p:nvSpPr>
          <p:cNvPr id="6" name="Shape 4"/>
          <p:cNvSpPr/>
          <p:nvPr/>
        </p:nvSpPr>
        <p:spPr>
          <a:xfrm>
            <a:off x="3010495" y="2790944"/>
            <a:ext cx="4214098" cy="1429226"/>
          </a:xfrm>
          <a:prstGeom prst="roundRect">
            <a:avLst>
              <a:gd name="adj" fmla="val 5707"/>
            </a:avLst>
          </a:prstGeom>
          <a:solidFill>
            <a:srgbClr val="FCE2CF"/>
          </a:solidFill>
          <a:ln w="11311">
            <a:solidFill>
              <a:srgbClr val="F9C59F"/>
            </a:solidFill>
            <a:prstDash val="solid"/>
          </a:ln>
        </p:spPr>
        <p:txBody>
          <a:bodyPr/>
          <a:lstStyle/>
          <a:p>
            <a:endParaRPr lang="en-IN"/>
          </a:p>
        </p:txBody>
      </p:sp>
      <p:sp>
        <p:nvSpPr>
          <p:cNvPr id="7" name="Text 5"/>
          <p:cNvSpPr/>
          <p:nvPr/>
        </p:nvSpPr>
        <p:spPr>
          <a:xfrm>
            <a:off x="3203019" y="2983468"/>
            <a:ext cx="1812488" cy="283131"/>
          </a:xfrm>
          <a:prstGeom prst="rect">
            <a:avLst/>
          </a:prstGeom>
          <a:noFill/>
          <a:ln/>
        </p:spPr>
        <p:txBody>
          <a:bodyPr wrap="none" rtlCol="0" anchor="t"/>
          <a:lstStyle/>
          <a:p>
            <a:pPr marL="0" indent="0">
              <a:lnSpc>
                <a:spcPts val="2230"/>
              </a:lnSpc>
              <a:buNone/>
            </a:pPr>
            <a:r>
              <a:rPr lang="en-US" sz="1784" kern="0" spc="-54" dirty="0">
                <a:solidFill>
                  <a:srgbClr val="2B2E3C"/>
                </a:solidFill>
                <a:latin typeface="Bitter" pitchFamily="34" charset="0"/>
                <a:ea typeface="Bitter" pitchFamily="34" charset="-122"/>
                <a:cs typeface="Bitter" pitchFamily="34" charset="-120"/>
              </a:rPr>
              <a:t>EASY TO USE</a:t>
            </a:r>
            <a:endParaRPr lang="en-US" sz="1784" dirty="0"/>
          </a:p>
        </p:txBody>
      </p:sp>
      <p:sp>
        <p:nvSpPr>
          <p:cNvPr id="8" name="Text 6"/>
          <p:cNvSpPr/>
          <p:nvPr/>
        </p:nvSpPr>
        <p:spPr>
          <a:xfrm>
            <a:off x="3203019" y="3447812"/>
            <a:ext cx="3829050" cy="579834"/>
          </a:xfrm>
          <a:prstGeom prst="rect">
            <a:avLst/>
          </a:prstGeom>
          <a:noFill/>
          <a:ln/>
        </p:spPr>
        <p:txBody>
          <a:bodyPr wrap="square" rtlCol="0" anchor="t"/>
          <a:lstStyle/>
          <a:p>
            <a:pPr marL="0" indent="0">
              <a:lnSpc>
                <a:spcPts val="2283"/>
              </a:lnSpc>
              <a:buNone/>
            </a:pPr>
            <a:r>
              <a:rPr lang="en-US" sz="1427" kern="0" spc="-29" dirty="0">
                <a:solidFill>
                  <a:srgbClr val="2B2E3C"/>
                </a:solidFill>
                <a:latin typeface="Open Sans" pitchFamily="34" charset="0"/>
                <a:ea typeface="Open Sans" pitchFamily="34" charset="-122"/>
                <a:cs typeface="Open Sans" pitchFamily="34" charset="-120"/>
              </a:rPr>
              <a:t>Simple, user-friendly interface for a seamless experience</a:t>
            </a:r>
            <a:endParaRPr lang="en-US" sz="1427" dirty="0"/>
          </a:p>
        </p:txBody>
      </p:sp>
      <p:sp>
        <p:nvSpPr>
          <p:cNvPr id="9" name="Shape 7"/>
          <p:cNvSpPr/>
          <p:nvPr/>
        </p:nvSpPr>
        <p:spPr>
          <a:xfrm>
            <a:off x="7405807" y="2790944"/>
            <a:ext cx="4214098" cy="1429226"/>
          </a:xfrm>
          <a:prstGeom prst="roundRect">
            <a:avLst>
              <a:gd name="adj" fmla="val 5707"/>
            </a:avLst>
          </a:prstGeom>
          <a:solidFill>
            <a:srgbClr val="FCE2CF"/>
          </a:solidFill>
          <a:ln w="11311">
            <a:solidFill>
              <a:srgbClr val="F9C59F"/>
            </a:solidFill>
            <a:prstDash val="solid"/>
          </a:ln>
        </p:spPr>
        <p:txBody>
          <a:bodyPr/>
          <a:lstStyle/>
          <a:p>
            <a:endParaRPr lang="en-IN"/>
          </a:p>
        </p:txBody>
      </p:sp>
      <p:sp>
        <p:nvSpPr>
          <p:cNvPr id="10" name="Text 8"/>
          <p:cNvSpPr/>
          <p:nvPr/>
        </p:nvSpPr>
        <p:spPr>
          <a:xfrm>
            <a:off x="7598331" y="2983468"/>
            <a:ext cx="2055376" cy="283131"/>
          </a:xfrm>
          <a:prstGeom prst="rect">
            <a:avLst/>
          </a:prstGeom>
          <a:noFill/>
          <a:ln/>
        </p:spPr>
        <p:txBody>
          <a:bodyPr wrap="none" rtlCol="0" anchor="t"/>
          <a:lstStyle/>
          <a:p>
            <a:pPr marL="0" indent="0">
              <a:lnSpc>
                <a:spcPts val="2230"/>
              </a:lnSpc>
              <a:buNone/>
            </a:pPr>
            <a:r>
              <a:rPr lang="en-US" sz="1784" kern="0" spc="-54" dirty="0">
                <a:solidFill>
                  <a:srgbClr val="2B2E3C"/>
                </a:solidFill>
                <a:latin typeface="Bitter" pitchFamily="34" charset="0"/>
                <a:ea typeface="Bitter" pitchFamily="34" charset="-122"/>
                <a:cs typeface="Bitter" pitchFamily="34" charset="-120"/>
              </a:rPr>
              <a:t>RANGE OF OPTIONS</a:t>
            </a:r>
            <a:endParaRPr lang="en-US" sz="1784" dirty="0"/>
          </a:p>
        </p:txBody>
      </p:sp>
      <p:sp>
        <p:nvSpPr>
          <p:cNvPr id="11" name="Text 9"/>
          <p:cNvSpPr/>
          <p:nvPr/>
        </p:nvSpPr>
        <p:spPr>
          <a:xfrm>
            <a:off x="7598331" y="3447812"/>
            <a:ext cx="3829050" cy="289917"/>
          </a:xfrm>
          <a:prstGeom prst="rect">
            <a:avLst/>
          </a:prstGeom>
          <a:noFill/>
          <a:ln/>
        </p:spPr>
        <p:txBody>
          <a:bodyPr wrap="none" rtlCol="0" anchor="t"/>
          <a:lstStyle/>
          <a:p>
            <a:pPr marL="0" indent="0">
              <a:lnSpc>
                <a:spcPts val="2283"/>
              </a:lnSpc>
              <a:buNone/>
            </a:pPr>
            <a:r>
              <a:rPr lang="en-US" sz="1427" kern="0" spc="-29" dirty="0">
                <a:solidFill>
                  <a:srgbClr val="2B2E3C"/>
                </a:solidFill>
                <a:latin typeface="Open Sans" pitchFamily="34" charset="0"/>
                <a:ea typeface="Open Sans" pitchFamily="34" charset="-122"/>
                <a:cs typeface="Open Sans" pitchFamily="34" charset="-120"/>
              </a:rPr>
              <a:t>Wide variety of design models to choose from</a:t>
            </a:r>
            <a:endParaRPr lang="en-US" sz="1427" dirty="0"/>
          </a:p>
        </p:txBody>
      </p:sp>
      <p:sp>
        <p:nvSpPr>
          <p:cNvPr id="12" name="Shape 10"/>
          <p:cNvSpPr/>
          <p:nvPr/>
        </p:nvSpPr>
        <p:spPr>
          <a:xfrm>
            <a:off x="3010495" y="4401383"/>
            <a:ext cx="4214098" cy="1429226"/>
          </a:xfrm>
          <a:prstGeom prst="roundRect">
            <a:avLst>
              <a:gd name="adj" fmla="val 5707"/>
            </a:avLst>
          </a:prstGeom>
          <a:solidFill>
            <a:srgbClr val="FCE2CF"/>
          </a:solidFill>
          <a:ln w="11311">
            <a:solidFill>
              <a:srgbClr val="F9C59F"/>
            </a:solidFill>
            <a:prstDash val="solid"/>
          </a:ln>
        </p:spPr>
        <p:txBody>
          <a:bodyPr/>
          <a:lstStyle/>
          <a:p>
            <a:endParaRPr lang="en-IN"/>
          </a:p>
        </p:txBody>
      </p:sp>
      <p:sp>
        <p:nvSpPr>
          <p:cNvPr id="13" name="Text 11"/>
          <p:cNvSpPr/>
          <p:nvPr/>
        </p:nvSpPr>
        <p:spPr>
          <a:xfrm>
            <a:off x="3203019" y="4593908"/>
            <a:ext cx="2860477" cy="283131"/>
          </a:xfrm>
          <a:prstGeom prst="rect">
            <a:avLst/>
          </a:prstGeom>
          <a:noFill/>
          <a:ln/>
        </p:spPr>
        <p:txBody>
          <a:bodyPr wrap="none" rtlCol="0" anchor="t"/>
          <a:lstStyle/>
          <a:p>
            <a:pPr marL="0" indent="0">
              <a:lnSpc>
                <a:spcPts val="2230"/>
              </a:lnSpc>
              <a:buNone/>
            </a:pPr>
            <a:r>
              <a:rPr lang="en-US" sz="1784" kern="0" spc="-54" dirty="0">
                <a:solidFill>
                  <a:srgbClr val="2B2E3C"/>
                </a:solidFill>
                <a:latin typeface="Bitter" pitchFamily="34" charset="0"/>
                <a:ea typeface="Bitter" pitchFamily="34" charset="-122"/>
                <a:cs typeface="Bitter" pitchFamily="34" charset="-120"/>
              </a:rPr>
              <a:t>PROFESSIONAL DESIGNERS</a:t>
            </a:r>
            <a:endParaRPr lang="en-US" sz="1784" dirty="0"/>
          </a:p>
        </p:txBody>
      </p:sp>
      <p:sp>
        <p:nvSpPr>
          <p:cNvPr id="14" name="Text 12"/>
          <p:cNvSpPr/>
          <p:nvPr/>
        </p:nvSpPr>
        <p:spPr>
          <a:xfrm>
            <a:off x="3203019" y="5058251"/>
            <a:ext cx="3829050" cy="579834"/>
          </a:xfrm>
          <a:prstGeom prst="rect">
            <a:avLst/>
          </a:prstGeom>
          <a:noFill/>
          <a:ln/>
        </p:spPr>
        <p:txBody>
          <a:bodyPr wrap="square" rtlCol="0" anchor="t"/>
          <a:lstStyle/>
          <a:p>
            <a:pPr marL="0" indent="0">
              <a:lnSpc>
                <a:spcPts val="2283"/>
              </a:lnSpc>
              <a:buNone/>
            </a:pPr>
            <a:r>
              <a:rPr lang="en-US" sz="1427" kern="0" spc="-29" dirty="0">
                <a:solidFill>
                  <a:srgbClr val="2B2E3C"/>
                </a:solidFill>
                <a:latin typeface="Open Sans" pitchFamily="34" charset="0"/>
                <a:ea typeface="Open Sans" pitchFamily="34" charset="-122"/>
                <a:cs typeface="Open Sans" pitchFamily="34" charset="-120"/>
              </a:rPr>
              <a:t>Access to registered and verified designers in your area</a:t>
            </a:r>
            <a:endParaRPr lang="en-US" sz="1427" dirty="0"/>
          </a:p>
        </p:txBody>
      </p:sp>
      <p:sp>
        <p:nvSpPr>
          <p:cNvPr id="15" name="Shape 13"/>
          <p:cNvSpPr/>
          <p:nvPr/>
        </p:nvSpPr>
        <p:spPr>
          <a:xfrm>
            <a:off x="7405807" y="4401383"/>
            <a:ext cx="4214098" cy="1429226"/>
          </a:xfrm>
          <a:prstGeom prst="roundRect">
            <a:avLst>
              <a:gd name="adj" fmla="val 5707"/>
            </a:avLst>
          </a:prstGeom>
          <a:solidFill>
            <a:srgbClr val="FCE2CF"/>
          </a:solidFill>
          <a:ln w="11311">
            <a:solidFill>
              <a:srgbClr val="F9C59F"/>
            </a:solidFill>
            <a:prstDash val="solid"/>
          </a:ln>
        </p:spPr>
        <p:txBody>
          <a:bodyPr/>
          <a:lstStyle/>
          <a:p>
            <a:endParaRPr lang="en-IN"/>
          </a:p>
        </p:txBody>
      </p:sp>
      <p:sp>
        <p:nvSpPr>
          <p:cNvPr id="16" name="Text 14"/>
          <p:cNvSpPr/>
          <p:nvPr/>
        </p:nvSpPr>
        <p:spPr>
          <a:xfrm>
            <a:off x="7598331" y="4593908"/>
            <a:ext cx="2669143" cy="283131"/>
          </a:xfrm>
          <a:prstGeom prst="rect">
            <a:avLst/>
          </a:prstGeom>
          <a:noFill/>
          <a:ln/>
        </p:spPr>
        <p:txBody>
          <a:bodyPr wrap="none" rtlCol="0" anchor="t"/>
          <a:lstStyle/>
          <a:p>
            <a:pPr marL="0" indent="0">
              <a:lnSpc>
                <a:spcPts val="2230"/>
              </a:lnSpc>
              <a:buNone/>
            </a:pPr>
            <a:r>
              <a:rPr lang="en-US" sz="1784" kern="0" spc="-54" dirty="0">
                <a:solidFill>
                  <a:srgbClr val="2B2E3C"/>
                </a:solidFill>
                <a:latin typeface="Bitter" pitchFamily="34" charset="0"/>
                <a:ea typeface="Bitter" pitchFamily="34" charset="-122"/>
                <a:cs typeface="Bitter" pitchFamily="34" charset="-120"/>
              </a:rPr>
              <a:t>SIMPLE BOOKING SYSTEM</a:t>
            </a:r>
            <a:endParaRPr lang="en-US" sz="1784" dirty="0"/>
          </a:p>
        </p:txBody>
      </p:sp>
      <p:sp>
        <p:nvSpPr>
          <p:cNvPr id="17" name="Text 15"/>
          <p:cNvSpPr/>
          <p:nvPr/>
        </p:nvSpPr>
        <p:spPr>
          <a:xfrm>
            <a:off x="7598331" y="5058251"/>
            <a:ext cx="3829050" cy="289917"/>
          </a:xfrm>
          <a:prstGeom prst="rect">
            <a:avLst/>
          </a:prstGeom>
          <a:noFill/>
          <a:ln/>
        </p:spPr>
        <p:txBody>
          <a:bodyPr wrap="none" rtlCol="0" anchor="t"/>
          <a:lstStyle/>
          <a:p>
            <a:pPr marL="0" indent="0">
              <a:lnSpc>
                <a:spcPts val="2283"/>
              </a:lnSpc>
              <a:buNone/>
            </a:pPr>
            <a:r>
              <a:rPr lang="en-US" sz="1427" kern="0" spc="-29" dirty="0">
                <a:solidFill>
                  <a:srgbClr val="2B2E3C"/>
                </a:solidFill>
                <a:latin typeface="Open Sans" pitchFamily="34" charset="0"/>
                <a:ea typeface="Open Sans" pitchFamily="34" charset="-122"/>
                <a:cs typeface="Open Sans" pitchFamily="34" charset="-120"/>
              </a:rPr>
              <a:t>Easy booking system for design execution</a:t>
            </a:r>
            <a:endParaRPr lang="en-US" sz="1427" dirty="0"/>
          </a:p>
        </p:txBody>
      </p:sp>
      <p:sp>
        <p:nvSpPr>
          <p:cNvPr id="18" name="Shape 16"/>
          <p:cNvSpPr/>
          <p:nvPr/>
        </p:nvSpPr>
        <p:spPr>
          <a:xfrm>
            <a:off x="3010495" y="6011823"/>
            <a:ext cx="8609290" cy="1719143"/>
          </a:xfrm>
          <a:prstGeom prst="roundRect">
            <a:avLst>
              <a:gd name="adj" fmla="val 4744"/>
            </a:avLst>
          </a:prstGeom>
          <a:solidFill>
            <a:srgbClr val="FCE2CF"/>
          </a:solidFill>
          <a:ln w="11311">
            <a:solidFill>
              <a:srgbClr val="F9C59F"/>
            </a:solidFill>
            <a:prstDash val="solid"/>
          </a:ln>
        </p:spPr>
        <p:txBody>
          <a:bodyPr/>
          <a:lstStyle/>
          <a:p>
            <a:endParaRPr lang="en-IN"/>
          </a:p>
        </p:txBody>
      </p:sp>
      <p:sp>
        <p:nvSpPr>
          <p:cNvPr id="19" name="Text 17"/>
          <p:cNvSpPr/>
          <p:nvPr/>
        </p:nvSpPr>
        <p:spPr>
          <a:xfrm>
            <a:off x="3203019" y="6204347"/>
            <a:ext cx="4026098" cy="283131"/>
          </a:xfrm>
          <a:prstGeom prst="rect">
            <a:avLst/>
          </a:prstGeom>
          <a:noFill/>
          <a:ln/>
        </p:spPr>
        <p:txBody>
          <a:bodyPr wrap="none" rtlCol="0" anchor="t"/>
          <a:lstStyle/>
          <a:p>
            <a:pPr marL="0" indent="0">
              <a:lnSpc>
                <a:spcPts val="2230"/>
              </a:lnSpc>
              <a:buNone/>
            </a:pPr>
            <a:r>
              <a:rPr lang="en-US" sz="1784" kern="0" spc="-54" dirty="0">
                <a:solidFill>
                  <a:srgbClr val="2B2E3C"/>
                </a:solidFill>
                <a:latin typeface="Bitter" pitchFamily="34" charset="0"/>
                <a:ea typeface="Bitter" pitchFamily="34" charset="-122"/>
                <a:cs typeface="Bitter" pitchFamily="34" charset="-120"/>
              </a:rPr>
              <a:t>TRAINING BOOTHS FOR CONTRACTORS</a:t>
            </a:r>
            <a:endParaRPr lang="en-US" sz="1784" dirty="0"/>
          </a:p>
        </p:txBody>
      </p:sp>
      <p:sp>
        <p:nvSpPr>
          <p:cNvPr id="20" name="Text 18"/>
          <p:cNvSpPr/>
          <p:nvPr/>
        </p:nvSpPr>
        <p:spPr>
          <a:xfrm>
            <a:off x="3203019" y="6668691"/>
            <a:ext cx="8224242" cy="869752"/>
          </a:xfrm>
          <a:prstGeom prst="rect">
            <a:avLst/>
          </a:prstGeom>
          <a:noFill/>
          <a:ln/>
        </p:spPr>
        <p:txBody>
          <a:bodyPr wrap="square" rtlCol="0" anchor="t"/>
          <a:lstStyle/>
          <a:p>
            <a:pPr marL="0" indent="0">
              <a:lnSpc>
                <a:spcPts val="2283"/>
              </a:lnSpc>
              <a:buNone/>
            </a:pPr>
            <a:r>
              <a:rPr lang="en-US" sz="1427" kern="0" spc="-29" dirty="0">
                <a:solidFill>
                  <a:srgbClr val="2B2E3C"/>
                </a:solidFill>
                <a:latin typeface="Open Sans" pitchFamily="34" charset="0"/>
                <a:ea typeface="Open Sans" pitchFamily="34" charset="-122"/>
                <a:cs typeface="Open Sans" pitchFamily="34" charset="-120"/>
              </a:rPr>
              <a:t>Get access to our training booths, where you can learn about all the latest design styles, new hardware, and trending designs across India. Stay ahead of the competition and impress your clients with your knowledge and skills. Sign up now!</a:t>
            </a:r>
            <a:endParaRPr lang="en-US" sz="14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14418707"/>
          </a:xfrm>
          <a:prstGeom prst="rect">
            <a:avLst/>
          </a:prstGeom>
          <a:solidFill>
            <a:srgbClr val="FFF8F0"/>
          </a:solidFill>
          <a:ln w="9644">
            <a:solidFill>
              <a:srgbClr val="E5E0DF"/>
            </a:solidFill>
            <a:prstDash val="solid"/>
          </a:ln>
        </p:spPr>
        <p:txBody>
          <a:bodyPr/>
          <a:lstStyle/>
          <a:p>
            <a:endParaRPr lang="en-IN"/>
          </a:p>
        </p:txBody>
      </p:sp>
      <p:sp>
        <p:nvSpPr>
          <p:cNvPr id="4" name="Text 2"/>
          <p:cNvSpPr/>
          <p:nvPr/>
        </p:nvSpPr>
        <p:spPr>
          <a:xfrm>
            <a:off x="3621167" y="427673"/>
            <a:ext cx="7388066" cy="972026"/>
          </a:xfrm>
          <a:prstGeom prst="rect">
            <a:avLst/>
          </a:prstGeom>
          <a:noFill/>
          <a:ln/>
        </p:spPr>
        <p:txBody>
          <a:bodyPr wrap="square" rtlCol="0" anchor="t"/>
          <a:lstStyle/>
          <a:p>
            <a:pPr marL="0" indent="0">
              <a:lnSpc>
                <a:spcPts val="3827"/>
              </a:lnSpc>
              <a:buNone/>
            </a:pPr>
            <a:r>
              <a:rPr lang="en-US" sz="3062" kern="0" spc="-92" dirty="0">
                <a:solidFill>
                  <a:srgbClr val="2C3F42"/>
                </a:solidFill>
                <a:latin typeface="Bitter" pitchFamily="34" charset="0"/>
                <a:ea typeface="Bitter" pitchFamily="34" charset="-122"/>
                <a:cs typeface="Bitter" pitchFamily="34" charset="-120"/>
              </a:rPr>
              <a:t>The Problem of Unstructured Interior Industry</a:t>
            </a:r>
            <a:endParaRPr lang="en-US" sz="3062" dirty="0"/>
          </a:p>
        </p:txBody>
      </p:sp>
      <p:sp>
        <p:nvSpPr>
          <p:cNvPr id="5" name="Text 3"/>
          <p:cNvSpPr/>
          <p:nvPr/>
        </p:nvSpPr>
        <p:spPr>
          <a:xfrm>
            <a:off x="3621167" y="1710690"/>
            <a:ext cx="7388066" cy="746165"/>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In the traditional interior design industry, there is no standard process and no easy way for customers to find the right designer. As a result, customers are often left feeling frustrated and dissatisfied with their design experience.</a:t>
            </a:r>
            <a:endParaRPr lang="en-US" sz="1225" dirty="0"/>
          </a:p>
        </p:txBody>
      </p:sp>
      <p:pic>
        <p:nvPicPr>
          <p:cNvPr id="6" name="Image 0" descr="preencoded.png"/>
          <p:cNvPicPr>
            <a:picLocks noChangeAspect="1"/>
          </p:cNvPicPr>
          <p:nvPr/>
        </p:nvPicPr>
        <p:blipFill>
          <a:blip r:embed="rId3"/>
          <a:stretch>
            <a:fillRect/>
          </a:stretch>
        </p:blipFill>
        <p:spPr>
          <a:xfrm>
            <a:off x="3621167" y="2631758"/>
            <a:ext cx="3577352" cy="2210872"/>
          </a:xfrm>
          <a:prstGeom prst="rect">
            <a:avLst/>
          </a:prstGeom>
        </p:spPr>
      </p:pic>
      <p:sp>
        <p:nvSpPr>
          <p:cNvPr id="7" name="Text 4"/>
          <p:cNvSpPr/>
          <p:nvPr/>
        </p:nvSpPr>
        <p:spPr>
          <a:xfrm>
            <a:off x="3621167" y="5036939"/>
            <a:ext cx="1777246" cy="243007"/>
          </a:xfrm>
          <a:prstGeom prst="rect">
            <a:avLst/>
          </a:prstGeom>
          <a:noFill/>
          <a:ln/>
        </p:spPr>
        <p:txBody>
          <a:bodyPr wrap="none" rtlCol="0" anchor="t"/>
          <a:lstStyle/>
          <a:p>
            <a:pPr marL="0" indent="0" algn="l">
              <a:lnSpc>
                <a:spcPts val="1914"/>
              </a:lnSpc>
              <a:buNone/>
            </a:pPr>
            <a:r>
              <a:rPr lang="en-US" sz="1531" kern="0" spc="-46" dirty="0">
                <a:solidFill>
                  <a:srgbClr val="2C3F42"/>
                </a:solidFill>
                <a:latin typeface="Bitter" pitchFamily="34" charset="0"/>
                <a:ea typeface="Bitter" pitchFamily="34" charset="-122"/>
                <a:cs typeface="Bitter" pitchFamily="34" charset="-120"/>
              </a:rPr>
              <a:t>Confused Customers</a:t>
            </a:r>
            <a:endParaRPr lang="en-US" sz="1531" dirty="0"/>
          </a:p>
        </p:txBody>
      </p:sp>
      <p:sp>
        <p:nvSpPr>
          <p:cNvPr id="8" name="Text 5"/>
          <p:cNvSpPr/>
          <p:nvPr/>
        </p:nvSpPr>
        <p:spPr>
          <a:xfrm>
            <a:off x="3621167" y="5435441"/>
            <a:ext cx="3577352" cy="497443"/>
          </a:xfrm>
          <a:prstGeom prst="rect">
            <a:avLst/>
          </a:prstGeom>
          <a:noFill/>
          <a:ln/>
        </p:spPr>
        <p:txBody>
          <a:bodyPr wrap="square" rtlCol="0" anchor="t"/>
          <a:lstStyle/>
          <a:p>
            <a:pPr marL="0" indent="0" algn="l">
              <a:lnSpc>
                <a:spcPts val="1960"/>
              </a:lnSpc>
              <a:buNone/>
            </a:pPr>
            <a:r>
              <a:rPr lang="en-US" sz="1225" kern="0" spc="-24" dirty="0">
                <a:solidFill>
                  <a:srgbClr val="2B2E3C"/>
                </a:solidFill>
                <a:latin typeface="Open Sans" pitchFamily="34" charset="0"/>
                <a:ea typeface="Open Sans" pitchFamily="34" charset="-122"/>
                <a:cs typeface="Open Sans" pitchFamily="34" charset="-120"/>
              </a:rPr>
              <a:t>Customers often struggle to find the right designer and are unsure about the process.</a:t>
            </a:r>
            <a:endParaRPr lang="en-US" sz="1225" dirty="0"/>
          </a:p>
        </p:txBody>
      </p:sp>
      <p:pic>
        <p:nvPicPr>
          <p:cNvPr id="9" name="Image 1" descr="preencoded.png"/>
          <p:cNvPicPr>
            <a:picLocks noChangeAspect="1"/>
          </p:cNvPicPr>
          <p:nvPr/>
        </p:nvPicPr>
        <p:blipFill>
          <a:blip r:embed="rId4"/>
          <a:stretch>
            <a:fillRect/>
          </a:stretch>
        </p:blipFill>
        <p:spPr>
          <a:xfrm>
            <a:off x="7431762" y="2631758"/>
            <a:ext cx="3577471" cy="2210991"/>
          </a:xfrm>
          <a:prstGeom prst="rect">
            <a:avLst/>
          </a:prstGeom>
        </p:spPr>
      </p:pic>
      <p:sp>
        <p:nvSpPr>
          <p:cNvPr id="10" name="Text 6"/>
          <p:cNvSpPr/>
          <p:nvPr/>
        </p:nvSpPr>
        <p:spPr>
          <a:xfrm>
            <a:off x="7431762" y="5037058"/>
            <a:ext cx="1811298" cy="243007"/>
          </a:xfrm>
          <a:prstGeom prst="rect">
            <a:avLst/>
          </a:prstGeom>
          <a:noFill/>
          <a:ln/>
        </p:spPr>
        <p:txBody>
          <a:bodyPr wrap="none" rtlCol="0" anchor="t"/>
          <a:lstStyle/>
          <a:p>
            <a:pPr marL="0" indent="0" algn="l">
              <a:lnSpc>
                <a:spcPts val="1914"/>
              </a:lnSpc>
              <a:buNone/>
            </a:pPr>
            <a:r>
              <a:rPr lang="en-US" sz="1531" kern="0" spc="-46" dirty="0">
                <a:solidFill>
                  <a:srgbClr val="2C3F42"/>
                </a:solidFill>
                <a:latin typeface="Bitter" pitchFamily="34" charset="0"/>
                <a:ea typeface="Bitter" pitchFamily="34" charset="-122"/>
                <a:cs typeface="Bitter" pitchFamily="34" charset="-120"/>
              </a:rPr>
              <a:t>Frustrated Designers</a:t>
            </a:r>
            <a:endParaRPr lang="en-US" sz="1531" dirty="0"/>
          </a:p>
        </p:txBody>
      </p:sp>
      <p:sp>
        <p:nvSpPr>
          <p:cNvPr id="11" name="Text 7"/>
          <p:cNvSpPr/>
          <p:nvPr/>
        </p:nvSpPr>
        <p:spPr>
          <a:xfrm>
            <a:off x="7431762" y="5435560"/>
            <a:ext cx="3577471" cy="497443"/>
          </a:xfrm>
          <a:prstGeom prst="rect">
            <a:avLst/>
          </a:prstGeom>
          <a:noFill/>
          <a:ln/>
        </p:spPr>
        <p:txBody>
          <a:bodyPr wrap="square" rtlCol="0" anchor="t"/>
          <a:lstStyle/>
          <a:p>
            <a:pPr marL="0" indent="0" algn="l">
              <a:lnSpc>
                <a:spcPts val="1960"/>
              </a:lnSpc>
              <a:buNone/>
            </a:pPr>
            <a:r>
              <a:rPr lang="en-US" sz="1225" kern="0" spc="-24" dirty="0">
                <a:solidFill>
                  <a:srgbClr val="2B2E3C"/>
                </a:solidFill>
                <a:latin typeface="Open Sans" pitchFamily="34" charset="0"/>
                <a:ea typeface="Open Sans" pitchFamily="34" charset="-122"/>
                <a:cs typeface="Open Sans" pitchFamily="34" charset="-120"/>
              </a:rPr>
              <a:t>Designers often struggle to find clients and generate regular income.</a:t>
            </a:r>
            <a:endParaRPr lang="en-US" sz="1225" dirty="0"/>
          </a:p>
        </p:txBody>
      </p:sp>
      <p:pic>
        <p:nvPicPr>
          <p:cNvPr id="12" name="Image 2" descr="preencoded.png"/>
          <p:cNvPicPr>
            <a:picLocks noChangeAspect="1"/>
          </p:cNvPicPr>
          <p:nvPr/>
        </p:nvPicPr>
        <p:blipFill>
          <a:blip r:embed="rId5"/>
          <a:stretch>
            <a:fillRect/>
          </a:stretch>
        </p:blipFill>
        <p:spPr>
          <a:xfrm>
            <a:off x="3621167" y="6166247"/>
            <a:ext cx="3577352" cy="2210872"/>
          </a:xfrm>
          <a:prstGeom prst="rect">
            <a:avLst/>
          </a:prstGeom>
        </p:spPr>
      </p:pic>
      <p:sp>
        <p:nvSpPr>
          <p:cNvPr id="13" name="Text 8"/>
          <p:cNvSpPr/>
          <p:nvPr/>
        </p:nvSpPr>
        <p:spPr>
          <a:xfrm>
            <a:off x="3621167" y="8571428"/>
            <a:ext cx="2009418" cy="243007"/>
          </a:xfrm>
          <a:prstGeom prst="rect">
            <a:avLst/>
          </a:prstGeom>
          <a:noFill/>
          <a:ln/>
        </p:spPr>
        <p:txBody>
          <a:bodyPr wrap="none" rtlCol="0" anchor="t"/>
          <a:lstStyle/>
          <a:p>
            <a:pPr marL="0" indent="0" algn="l">
              <a:lnSpc>
                <a:spcPts val="1914"/>
              </a:lnSpc>
              <a:buNone/>
            </a:pPr>
            <a:r>
              <a:rPr lang="en-US" sz="1531" kern="0" spc="-46" dirty="0">
                <a:solidFill>
                  <a:srgbClr val="2C3F42"/>
                </a:solidFill>
                <a:latin typeface="Bitter" pitchFamily="34" charset="0"/>
                <a:ea typeface="Bitter" pitchFamily="34" charset="-122"/>
                <a:cs typeface="Bitter" pitchFamily="34" charset="-120"/>
              </a:rPr>
              <a:t>Overwhelmed Industry</a:t>
            </a:r>
            <a:endParaRPr lang="en-US" sz="1531" dirty="0"/>
          </a:p>
        </p:txBody>
      </p:sp>
      <p:sp>
        <p:nvSpPr>
          <p:cNvPr id="14" name="Text 9"/>
          <p:cNvSpPr/>
          <p:nvPr/>
        </p:nvSpPr>
        <p:spPr>
          <a:xfrm>
            <a:off x="3621167" y="8969931"/>
            <a:ext cx="3577352" cy="497443"/>
          </a:xfrm>
          <a:prstGeom prst="rect">
            <a:avLst/>
          </a:prstGeom>
          <a:noFill/>
          <a:ln/>
        </p:spPr>
        <p:txBody>
          <a:bodyPr wrap="square" rtlCol="0" anchor="t"/>
          <a:lstStyle/>
          <a:p>
            <a:pPr marL="0" indent="0" algn="l">
              <a:lnSpc>
                <a:spcPts val="1960"/>
              </a:lnSpc>
              <a:buNone/>
            </a:pPr>
            <a:r>
              <a:rPr lang="en-US" sz="1225" kern="0" spc="-24" dirty="0">
                <a:solidFill>
                  <a:srgbClr val="2B2E3C"/>
                </a:solidFill>
                <a:latin typeface="Open Sans" pitchFamily="34" charset="0"/>
                <a:ea typeface="Open Sans" pitchFamily="34" charset="-122"/>
                <a:cs typeface="Open Sans" pitchFamily="34" charset="-120"/>
              </a:rPr>
              <a:t>The interior design industry is highly unstructured with no clear standard or process in place.</a:t>
            </a:r>
            <a:endParaRPr lang="en-US" sz="1225" dirty="0"/>
          </a:p>
        </p:txBody>
      </p:sp>
      <p:pic>
        <p:nvPicPr>
          <p:cNvPr id="15" name="Image 3" descr="preencoded.png"/>
          <p:cNvPicPr>
            <a:picLocks noChangeAspect="1"/>
          </p:cNvPicPr>
          <p:nvPr/>
        </p:nvPicPr>
        <p:blipFill>
          <a:blip r:embed="rId6"/>
          <a:stretch>
            <a:fillRect/>
          </a:stretch>
        </p:blipFill>
        <p:spPr>
          <a:xfrm>
            <a:off x="7431762" y="6166247"/>
            <a:ext cx="3577471" cy="2210991"/>
          </a:xfrm>
          <a:prstGeom prst="rect">
            <a:avLst/>
          </a:prstGeom>
        </p:spPr>
      </p:pic>
      <p:sp>
        <p:nvSpPr>
          <p:cNvPr id="16" name="Text 10"/>
          <p:cNvSpPr/>
          <p:nvPr/>
        </p:nvSpPr>
        <p:spPr>
          <a:xfrm>
            <a:off x="7431762" y="8571548"/>
            <a:ext cx="3577471" cy="486013"/>
          </a:xfrm>
          <a:prstGeom prst="rect">
            <a:avLst/>
          </a:prstGeom>
          <a:noFill/>
          <a:ln/>
        </p:spPr>
        <p:txBody>
          <a:bodyPr wrap="square" rtlCol="0" anchor="t"/>
          <a:lstStyle/>
          <a:p>
            <a:pPr marL="0" indent="0" algn="l">
              <a:lnSpc>
                <a:spcPts val="1914"/>
              </a:lnSpc>
              <a:buNone/>
            </a:pPr>
            <a:r>
              <a:rPr lang="en-US" sz="1531" kern="0" spc="-46" dirty="0">
                <a:solidFill>
                  <a:srgbClr val="2C3F42"/>
                </a:solidFill>
                <a:latin typeface="Bitter" pitchFamily="34" charset="0"/>
                <a:ea typeface="Bitter" pitchFamily="34" charset="-122"/>
                <a:cs typeface="Bitter" pitchFamily="34" charset="-120"/>
              </a:rPr>
              <a:t>Undefined Stages of Milestone-Based Payment</a:t>
            </a:r>
            <a:endParaRPr lang="en-US" sz="1531" dirty="0"/>
          </a:p>
        </p:txBody>
      </p:sp>
      <p:sp>
        <p:nvSpPr>
          <p:cNvPr id="17" name="Text 11"/>
          <p:cNvSpPr/>
          <p:nvPr/>
        </p:nvSpPr>
        <p:spPr>
          <a:xfrm>
            <a:off x="7431762" y="9213056"/>
            <a:ext cx="3577471" cy="994886"/>
          </a:xfrm>
          <a:prstGeom prst="rect">
            <a:avLst/>
          </a:prstGeom>
          <a:noFill/>
          <a:ln/>
        </p:spPr>
        <p:txBody>
          <a:bodyPr wrap="square" rtlCol="0" anchor="t"/>
          <a:lstStyle/>
          <a:p>
            <a:pPr marL="0" indent="0" algn="l">
              <a:lnSpc>
                <a:spcPts val="1960"/>
              </a:lnSpc>
              <a:buNone/>
            </a:pPr>
            <a:r>
              <a:rPr lang="en-US" sz="1225" kern="0" spc="-24" dirty="0">
                <a:solidFill>
                  <a:srgbClr val="2B2E3C"/>
                </a:solidFill>
                <a:latin typeface="Open Sans" pitchFamily="34" charset="0"/>
                <a:ea typeface="Open Sans" pitchFamily="34" charset="-122"/>
                <a:cs typeface="Open Sans" pitchFamily="34" charset="-120"/>
              </a:rPr>
              <a:t>Without clearly defined stages of milestone-based payment, designers and clients may have different expectations, leading to disputes and unsatisfactory outcomes.</a:t>
            </a:r>
            <a:endParaRPr lang="en-US" sz="1225" dirty="0"/>
          </a:p>
        </p:txBody>
      </p:sp>
      <p:pic>
        <p:nvPicPr>
          <p:cNvPr id="18" name="Image 4" descr="preencoded.png"/>
          <p:cNvPicPr>
            <a:picLocks noChangeAspect="1"/>
          </p:cNvPicPr>
          <p:nvPr/>
        </p:nvPicPr>
        <p:blipFill>
          <a:blip r:embed="rId6"/>
          <a:stretch>
            <a:fillRect/>
          </a:stretch>
        </p:blipFill>
        <p:spPr>
          <a:xfrm>
            <a:off x="3621167" y="10441186"/>
            <a:ext cx="3577352" cy="2210872"/>
          </a:xfrm>
          <a:prstGeom prst="rect">
            <a:avLst/>
          </a:prstGeom>
        </p:spPr>
      </p:pic>
      <p:sp>
        <p:nvSpPr>
          <p:cNvPr id="19" name="Text 12"/>
          <p:cNvSpPr/>
          <p:nvPr/>
        </p:nvSpPr>
        <p:spPr>
          <a:xfrm>
            <a:off x="3621167" y="12846368"/>
            <a:ext cx="3213259" cy="243007"/>
          </a:xfrm>
          <a:prstGeom prst="rect">
            <a:avLst/>
          </a:prstGeom>
          <a:noFill/>
          <a:ln/>
        </p:spPr>
        <p:txBody>
          <a:bodyPr wrap="none" rtlCol="0" anchor="t"/>
          <a:lstStyle/>
          <a:p>
            <a:pPr marL="0" indent="0" algn="l">
              <a:lnSpc>
                <a:spcPts val="1914"/>
              </a:lnSpc>
              <a:buNone/>
            </a:pPr>
            <a:r>
              <a:rPr lang="en-US" sz="1531" kern="0" spc="-46" dirty="0">
                <a:solidFill>
                  <a:srgbClr val="2C3F42"/>
                </a:solidFill>
                <a:latin typeface="Bitter" pitchFamily="34" charset="0"/>
                <a:ea typeface="Bitter" pitchFamily="34" charset="-122"/>
                <a:cs typeface="Bitter" pitchFamily="34" charset="-120"/>
              </a:rPr>
              <a:t>Lack of After-Sales Support and Audit</a:t>
            </a:r>
            <a:endParaRPr lang="en-US" sz="1531" dirty="0"/>
          </a:p>
        </p:txBody>
      </p:sp>
      <p:sp>
        <p:nvSpPr>
          <p:cNvPr id="20" name="Text 13"/>
          <p:cNvSpPr/>
          <p:nvPr/>
        </p:nvSpPr>
        <p:spPr>
          <a:xfrm>
            <a:off x="3621167" y="13244870"/>
            <a:ext cx="3577352" cy="746165"/>
          </a:xfrm>
          <a:prstGeom prst="rect">
            <a:avLst/>
          </a:prstGeom>
          <a:noFill/>
          <a:ln/>
        </p:spPr>
        <p:txBody>
          <a:bodyPr wrap="square" rtlCol="0" anchor="t"/>
          <a:lstStyle/>
          <a:p>
            <a:pPr marL="0" indent="0" algn="l">
              <a:lnSpc>
                <a:spcPts val="1960"/>
              </a:lnSpc>
              <a:buNone/>
            </a:pPr>
            <a:r>
              <a:rPr lang="en-US" sz="1225" kern="0" spc="-24" dirty="0">
                <a:solidFill>
                  <a:srgbClr val="2B2E3C"/>
                </a:solidFill>
                <a:latin typeface="Open Sans" pitchFamily="34" charset="0"/>
                <a:ea typeface="Open Sans" pitchFamily="34" charset="-122"/>
                <a:cs typeface="Open Sans" pitchFamily="34" charset="-120"/>
              </a:rPr>
              <a:t>There is often no after-sales support or audit for interior design projects, leading to a lack of accountability and possible quality issues.</a:t>
            </a:r>
            <a:endParaRPr lang="en-US" sz="12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29600"/>
          </a:xfrm>
          <a:prstGeom prst="rect">
            <a:avLst/>
          </a:prstGeom>
          <a:solidFill>
            <a:srgbClr val="FFF8F0"/>
          </a:solidFill>
          <a:ln w="13811">
            <a:solidFill>
              <a:srgbClr val="E5E0DF"/>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FF8F0">
              <a:alpha val="85000"/>
            </a:srgbClr>
          </a:solidFill>
          <a:ln/>
        </p:spPr>
        <p:txBody>
          <a:bodyPr/>
          <a:lstStyle/>
          <a:p>
            <a:endParaRPr lang="en-IN"/>
          </a:p>
        </p:txBody>
      </p:sp>
      <p:sp>
        <p:nvSpPr>
          <p:cNvPr id="6" name="Text 3"/>
          <p:cNvSpPr/>
          <p:nvPr/>
        </p:nvSpPr>
        <p:spPr>
          <a:xfrm>
            <a:off x="2037993" y="1124069"/>
            <a:ext cx="9408081" cy="694373"/>
          </a:xfrm>
          <a:prstGeom prst="rect">
            <a:avLst/>
          </a:prstGeom>
          <a:noFill/>
          <a:ln/>
        </p:spPr>
        <p:txBody>
          <a:bodyPr wrap="none" rtlCol="0" anchor="t"/>
          <a:lstStyle/>
          <a:p>
            <a:pPr marL="0" indent="0">
              <a:lnSpc>
                <a:spcPts val="5468"/>
              </a:lnSpc>
              <a:buNone/>
            </a:pPr>
            <a:r>
              <a:rPr lang="en-US" sz="4374" kern="0" spc="-131" dirty="0">
                <a:solidFill>
                  <a:srgbClr val="2C3F42"/>
                </a:solidFill>
                <a:latin typeface="Bitter" pitchFamily="34" charset="0"/>
                <a:ea typeface="Bitter" pitchFamily="34" charset="-122"/>
                <a:cs typeface="Bitter" pitchFamily="34" charset="-120"/>
              </a:rPr>
              <a:t>How GRIHAMM Will Solve the Problem</a:t>
            </a:r>
            <a:endParaRPr lang="en-US" sz="4374" dirty="0"/>
          </a:p>
        </p:txBody>
      </p:sp>
      <p:sp>
        <p:nvSpPr>
          <p:cNvPr id="7" name="Text 4"/>
          <p:cNvSpPr/>
          <p:nvPr/>
        </p:nvSpPr>
        <p:spPr>
          <a:xfrm>
            <a:off x="2037993" y="2151698"/>
            <a:ext cx="10554414" cy="1421606"/>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GRIHAMM is the solution to the unstructured interior industry. By providing a reliable and user-friendly platform, GRIHAMM connects customers with professional designers in their area. GRIHAMM also offers a simple booking system and payment management through the app, making the entire process easy and hassle-free for both customers and designers.</a:t>
            </a:r>
            <a:endParaRPr lang="en-US" sz="1750" dirty="0"/>
          </a:p>
        </p:txBody>
      </p:sp>
      <p:sp>
        <p:nvSpPr>
          <p:cNvPr id="8" name="Shape 5"/>
          <p:cNvSpPr/>
          <p:nvPr/>
        </p:nvSpPr>
        <p:spPr>
          <a:xfrm>
            <a:off x="2037993" y="3996809"/>
            <a:ext cx="499943" cy="499943"/>
          </a:xfrm>
          <a:prstGeom prst="roundRect">
            <a:avLst>
              <a:gd name="adj" fmla="val 20000"/>
            </a:avLst>
          </a:prstGeom>
          <a:solidFill>
            <a:srgbClr val="FCE2CF"/>
          </a:solidFill>
          <a:ln w="13811">
            <a:solidFill>
              <a:srgbClr val="F9C59F"/>
            </a:solidFill>
            <a:prstDash val="solid"/>
          </a:ln>
        </p:spPr>
        <p:txBody>
          <a:bodyPr/>
          <a:lstStyle/>
          <a:p>
            <a:endParaRPr lang="en-IN"/>
          </a:p>
        </p:txBody>
      </p:sp>
      <p:sp>
        <p:nvSpPr>
          <p:cNvPr id="9" name="Text 6"/>
          <p:cNvSpPr/>
          <p:nvPr/>
        </p:nvSpPr>
        <p:spPr>
          <a:xfrm>
            <a:off x="2221587" y="4038481"/>
            <a:ext cx="132755" cy="416481"/>
          </a:xfrm>
          <a:prstGeom prst="rect">
            <a:avLst/>
          </a:prstGeom>
          <a:noFill/>
          <a:ln/>
        </p:spPr>
        <p:txBody>
          <a:bodyPr wrap="none" rtlCol="0" anchor="t"/>
          <a:lstStyle/>
          <a:p>
            <a:pPr marL="0" indent="0" algn="ctr">
              <a:lnSpc>
                <a:spcPts val="3281"/>
              </a:lnSpc>
              <a:buNone/>
            </a:pPr>
            <a:r>
              <a:rPr lang="en-US" sz="2624" kern="0" spc="-35" dirty="0">
                <a:solidFill>
                  <a:srgbClr val="2B2E3C"/>
                </a:solidFill>
                <a:latin typeface="Bitter" pitchFamily="34" charset="0"/>
                <a:ea typeface="Bitter" pitchFamily="34" charset="-122"/>
                <a:cs typeface="Bitter" pitchFamily="34" charset="-120"/>
              </a:rPr>
              <a:t>1</a:t>
            </a:r>
            <a:endParaRPr lang="en-US" sz="2624" dirty="0"/>
          </a:p>
        </p:txBody>
      </p:sp>
      <p:sp>
        <p:nvSpPr>
          <p:cNvPr id="10" name="Text 7"/>
          <p:cNvSpPr/>
          <p:nvPr/>
        </p:nvSpPr>
        <p:spPr>
          <a:xfrm>
            <a:off x="2760107" y="4073128"/>
            <a:ext cx="3780353" cy="347186"/>
          </a:xfrm>
          <a:prstGeom prst="rect">
            <a:avLst/>
          </a:prstGeom>
          <a:noFill/>
          <a:ln/>
        </p:spPr>
        <p:txBody>
          <a:bodyPr wrap="none" rtlCol="0" anchor="t"/>
          <a:lstStyle/>
          <a:p>
            <a:pPr marL="0" indent="0">
              <a:lnSpc>
                <a:spcPts val="2734"/>
              </a:lnSpc>
              <a:buNone/>
            </a:pPr>
            <a:r>
              <a:rPr lang="en-US" sz="2187" kern="0" spc="-66" dirty="0">
                <a:solidFill>
                  <a:srgbClr val="2B2E3C"/>
                </a:solidFill>
                <a:latin typeface="Bitter" pitchFamily="34" charset="0"/>
                <a:ea typeface="Bitter" pitchFamily="34" charset="-122"/>
                <a:cs typeface="Bitter" pitchFamily="34" charset="-120"/>
              </a:rPr>
              <a:t>Reliable and Verified Designers</a:t>
            </a:r>
            <a:endParaRPr lang="en-US" sz="2187" dirty="0"/>
          </a:p>
        </p:txBody>
      </p:sp>
      <p:sp>
        <p:nvSpPr>
          <p:cNvPr id="11" name="Text 8"/>
          <p:cNvSpPr/>
          <p:nvPr/>
        </p:nvSpPr>
        <p:spPr>
          <a:xfrm>
            <a:off x="2760107" y="4642485"/>
            <a:ext cx="4444008" cy="710803"/>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Access to verified and experienced designers in your area.</a:t>
            </a:r>
            <a:endParaRPr lang="en-US" sz="1750" dirty="0"/>
          </a:p>
        </p:txBody>
      </p:sp>
      <p:sp>
        <p:nvSpPr>
          <p:cNvPr id="12" name="Shape 9"/>
          <p:cNvSpPr/>
          <p:nvPr/>
        </p:nvSpPr>
        <p:spPr>
          <a:xfrm>
            <a:off x="7426285" y="3996809"/>
            <a:ext cx="499943" cy="499943"/>
          </a:xfrm>
          <a:prstGeom prst="roundRect">
            <a:avLst>
              <a:gd name="adj" fmla="val 20000"/>
            </a:avLst>
          </a:prstGeom>
          <a:solidFill>
            <a:srgbClr val="FCE2CF"/>
          </a:solidFill>
          <a:ln w="13811">
            <a:solidFill>
              <a:srgbClr val="F9C59F"/>
            </a:solidFill>
            <a:prstDash val="solid"/>
          </a:ln>
        </p:spPr>
        <p:txBody>
          <a:bodyPr/>
          <a:lstStyle/>
          <a:p>
            <a:endParaRPr lang="en-IN"/>
          </a:p>
        </p:txBody>
      </p:sp>
      <p:sp>
        <p:nvSpPr>
          <p:cNvPr id="13" name="Text 10"/>
          <p:cNvSpPr/>
          <p:nvPr/>
        </p:nvSpPr>
        <p:spPr>
          <a:xfrm>
            <a:off x="7587020" y="4038481"/>
            <a:ext cx="178475" cy="416481"/>
          </a:xfrm>
          <a:prstGeom prst="rect">
            <a:avLst/>
          </a:prstGeom>
          <a:noFill/>
          <a:ln/>
        </p:spPr>
        <p:txBody>
          <a:bodyPr wrap="none" rtlCol="0" anchor="t"/>
          <a:lstStyle/>
          <a:p>
            <a:pPr marL="0" indent="0" algn="ctr">
              <a:lnSpc>
                <a:spcPts val="3281"/>
              </a:lnSpc>
              <a:buNone/>
            </a:pPr>
            <a:r>
              <a:rPr lang="en-US" sz="2624" kern="0" spc="-35" dirty="0">
                <a:solidFill>
                  <a:srgbClr val="2B2E3C"/>
                </a:solidFill>
                <a:latin typeface="Bitter" pitchFamily="34" charset="0"/>
                <a:ea typeface="Bitter" pitchFamily="34" charset="-122"/>
                <a:cs typeface="Bitter" pitchFamily="34" charset="-120"/>
              </a:rPr>
              <a:t>2</a:t>
            </a:r>
            <a:endParaRPr lang="en-US" sz="2624" dirty="0"/>
          </a:p>
        </p:txBody>
      </p:sp>
      <p:sp>
        <p:nvSpPr>
          <p:cNvPr id="14" name="Text 11"/>
          <p:cNvSpPr/>
          <p:nvPr/>
        </p:nvSpPr>
        <p:spPr>
          <a:xfrm>
            <a:off x="8148399" y="4073128"/>
            <a:ext cx="2562106" cy="347186"/>
          </a:xfrm>
          <a:prstGeom prst="rect">
            <a:avLst/>
          </a:prstGeom>
          <a:noFill/>
          <a:ln/>
        </p:spPr>
        <p:txBody>
          <a:bodyPr wrap="none" rtlCol="0" anchor="t"/>
          <a:lstStyle/>
          <a:p>
            <a:pPr marL="0" indent="0">
              <a:lnSpc>
                <a:spcPts val="2734"/>
              </a:lnSpc>
              <a:buNone/>
            </a:pPr>
            <a:r>
              <a:rPr lang="en-US" sz="2187" kern="0" spc="-66" dirty="0">
                <a:solidFill>
                  <a:srgbClr val="2B2E3C"/>
                </a:solidFill>
                <a:latin typeface="Bitter" pitchFamily="34" charset="0"/>
                <a:ea typeface="Bitter" pitchFamily="34" charset="-122"/>
                <a:cs typeface="Bitter" pitchFamily="34" charset="-120"/>
              </a:rPr>
              <a:t>Easy Booking System</a:t>
            </a:r>
            <a:endParaRPr lang="en-US" sz="2187" dirty="0"/>
          </a:p>
        </p:txBody>
      </p:sp>
      <p:sp>
        <p:nvSpPr>
          <p:cNvPr id="15" name="Text 12"/>
          <p:cNvSpPr/>
          <p:nvPr/>
        </p:nvSpPr>
        <p:spPr>
          <a:xfrm>
            <a:off x="8148399" y="4642485"/>
            <a:ext cx="4444008" cy="710803"/>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Simple process for booking design execution.</a:t>
            </a:r>
            <a:endParaRPr lang="en-US" sz="1750" dirty="0"/>
          </a:p>
        </p:txBody>
      </p:sp>
      <p:sp>
        <p:nvSpPr>
          <p:cNvPr id="16" name="Shape 13"/>
          <p:cNvSpPr/>
          <p:nvPr/>
        </p:nvSpPr>
        <p:spPr>
          <a:xfrm>
            <a:off x="2037993" y="5749052"/>
            <a:ext cx="499943" cy="499943"/>
          </a:xfrm>
          <a:prstGeom prst="roundRect">
            <a:avLst>
              <a:gd name="adj" fmla="val 20000"/>
            </a:avLst>
          </a:prstGeom>
          <a:solidFill>
            <a:srgbClr val="FCE2CF"/>
          </a:solidFill>
          <a:ln w="13811">
            <a:solidFill>
              <a:srgbClr val="F9C59F"/>
            </a:solidFill>
            <a:prstDash val="solid"/>
          </a:ln>
        </p:spPr>
        <p:txBody>
          <a:bodyPr/>
          <a:lstStyle/>
          <a:p>
            <a:endParaRPr lang="en-IN"/>
          </a:p>
        </p:txBody>
      </p:sp>
      <p:sp>
        <p:nvSpPr>
          <p:cNvPr id="17" name="Text 14"/>
          <p:cNvSpPr/>
          <p:nvPr/>
        </p:nvSpPr>
        <p:spPr>
          <a:xfrm>
            <a:off x="2194917" y="5790724"/>
            <a:ext cx="186095" cy="416481"/>
          </a:xfrm>
          <a:prstGeom prst="rect">
            <a:avLst/>
          </a:prstGeom>
          <a:noFill/>
          <a:ln/>
        </p:spPr>
        <p:txBody>
          <a:bodyPr wrap="none" rtlCol="0" anchor="t"/>
          <a:lstStyle/>
          <a:p>
            <a:pPr marL="0" indent="0" algn="ctr">
              <a:lnSpc>
                <a:spcPts val="3281"/>
              </a:lnSpc>
              <a:buNone/>
            </a:pPr>
            <a:r>
              <a:rPr lang="en-US" sz="2624" kern="0" spc="-35" dirty="0">
                <a:solidFill>
                  <a:srgbClr val="2B2E3C"/>
                </a:solidFill>
                <a:latin typeface="Bitter" pitchFamily="34" charset="0"/>
                <a:ea typeface="Bitter" pitchFamily="34" charset="-122"/>
                <a:cs typeface="Bitter" pitchFamily="34" charset="-120"/>
              </a:rPr>
              <a:t>3</a:t>
            </a:r>
            <a:endParaRPr lang="en-US" sz="2624" dirty="0"/>
          </a:p>
        </p:txBody>
      </p:sp>
      <p:sp>
        <p:nvSpPr>
          <p:cNvPr id="18" name="Text 15"/>
          <p:cNvSpPr/>
          <p:nvPr/>
        </p:nvSpPr>
        <p:spPr>
          <a:xfrm>
            <a:off x="2760107" y="5825371"/>
            <a:ext cx="3761065" cy="347186"/>
          </a:xfrm>
          <a:prstGeom prst="rect">
            <a:avLst/>
          </a:prstGeom>
          <a:noFill/>
          <a:ln/>
        </p:spPr>
        <p:txBody>
          <a:bodyPr wrap="none" rtlCol="0" anchor="t"/>
          <a:lstStyle/>
          <a:p>
            <a:pPr marL="0" indent="0">
              <a:lnSpc>
                <a:spcPts val="2734"/>
              </a:lnSpc>
              <a:buNone/>
            </a:pPr>
            <a:r>
              <a:rPr lang="en-US" sz="2187" kern="0" spc="-66" dirty="0">
                <a:solidFill>
                  <a:srgbClr val="2B2E3C"/>
                </a:solidFill>
                <a:latin typeface="Bitter" pitchFamily="34" charset="0"/>
                <a:ea typeface="Bitter" pitchFamily="34" charset="-122"/>
                <a:cs typeface="Bitter" pitchFamily="34" charset="-120"/>
              </a:rPr>
              <a:t>Payment Management Via App</a:t>
            </a:r>
            <a:endParaRPr lang="en-US" sz="2187" dirty="0"/>
          </a:p>
        </p:txBody>
      </p:sp>
      <p:sp>
        <p:nvSpPr>
          <p:cNvPr id="19" name="Text 16"/>
          <p:cNvSpPr/>
          <p:nvPr/>
        </p:nvSpPr>
        <p:spPr>
          <a:xfrm>
            <a:off x="2760107" y="6394728"/>
            <a:ext cx="4444008" cy="710803"/>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Convenient payment management options available via the app.</a:t>
            </a:r>
            <a:endParaRPr lang="en-US" sz="1750" dirty="0"/>
          </a:p>
        </p:txBody>
      </p:sp>
      <p:sp>
        <p:nvSpPr>
          <p:cNvPr id="20" name="Shape 17"/>
          <p:cNvSpPr/>
          <p:nvPr/>
        </p:nvSpPr>
        <p:spPr>
          <a:xfrm>
            <a:off x="7426285" y="5749052"/>
            <a:ext cx="499943" cy="499943"/>
          </a:xfrm>
          <a:prstGeom prst="roundRect">
            <a:avLst>
              <a:gd name="adj" fmla="val 20000"/>
            </a:avLst>
          </a:prstGeom>
          <a:solidFill>
            <a:srgbClr val="FCE2CF"/>
          </a:solidFill>
          <a:ln w="13811">
            <a:solidFill>
              <a:srgbClr val="F9C59F"/>
            </a:solidFill>
            <a:prstDash val="solid"/>
          </a:ln>
        </p:spPr>
        <p:txBody>
          <a:bodyPr/>
          <a:lstStyle/>
          <a:p>
            <a:endParaRPr lang="en-IN"/>
          </a:p>
        </p:txBody>
      </p:sp>
      <p:sp>
        <p:nvSpPr>
          <p:cNvPr id="21" name="Text 18"/>
          <p:cNvSpPr/>
          <p:nvPr/>
        </p:nvSpPr>
        <p:spPr>
          <a:xfrm>
            <a:off x="7579400" y="5790724"/>
            <a:ext cx="193715" cy="416481"/>
          </a:xfrm>
          <a:prstGeom prst="rect">
            <a:avLst/>
          </a:prstGeom>
          <a:noFill/>
          <a:ln/>
        </p:spPr>
        <p:txBody>
          <a:bodyPr wrap="none" rtlCol="0" anchor="t"/>
          <a:lstStyle/>
          <a:p>
            <a:pPr marL="0" indent="0" algn="ctr">
              <a:lnSpc>
                <a:spcPts val="3281"/>
              </a:lnSpc>
              <a:buNone/>
            </a:pPr>
            <a:r>
              <a:rPr lang="en-US" sz="2624" kern="0" spc="-35" dirty="0">
                <a:solidFill>
                  <a:srgbClr val="2B2E3C"/>
                </a:solidFill>
                <a:latin typeface="Bitter" pitchFamily="34" charset="0"/>
                <a:ea typeface="Bitter" pitchFamily="34" charset="-122"/>
                <a:cs typeface="Bitter" pitchFamily="34" charset="-120"/>
              </a:rPr>
              <a:t>4</a:t>
            </a:r>
            <a:endParaRPr lang="en-US" sz="2624" dirty="0"/>
          </a:p>
        </p:txBody>
      </p:sp>
      <p:sp>
        <p:nvSpPr>
          <p:cNvPr id="22" name="Text 19"/>
          <p:cNvSpPr/>
          <p:nvPr/>
        </p:nvSpPr>
        <p:spPr>
          <a:xfrm>
            <a:off x="8148399" y="5825371"/>
            <a:ext cx="2221944" cy="347186"/>
          </a:xfrm>
          <a:prstGeom prst="rect">
            <a:avLst/>
          </a:prstGeom>
          <a:noFill/>
          <a:ln/>
        </p:spPr>
        <p:txBody>
          <a:bodyPr wrap="none" rtlCol="0" anchor="t"/>
          <a:lstStyle/>
          <a:p>
            <a:pPr marL="0" indent="0">
              <a:lnSpc>
                <a:spcPts val="2734"/>
              </a:lnSpc>
              <a:buNone/>
            </a:pPr>
            <a:r>
              <a:rPr lang="en-US" sz="2187" kern="0" spc="-66" dirty="0">
                <a:solidFill>
                  <a:srgbClr val="2B2E3C"/>
                </a:solidFill>
                <a:latin typeface="Bitter" pitchFamily="34" charset="0"/>
                <a:ea typeface="Bitter" pitchFamily="34" charset="-122"/>
                <a:cs typeface="Bitter" pitchFamily="34" charset="-120"/>
              </a:rPr>
              <a:t>Standard Process</a:t>
            </a:r>
            <a:endParaRPr lang="en-US" sz="2187" dirty="0"/>
          </a:p>
        </p:txBody>
      </p:sp>
      <p:sp>
        <p:nvSpPr>
          <p:cNvPr id="23" name="Text 20"/>
          <p:cNvSpPr/>
          <p:nvPr/>
        </p:nvSpPr>
        <p:spPr>
          <a:xfrm>
            <a:off x="8148399" y="6394728"/>
            <a:ext cx="4444008" cy="710803"/>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Cleare standard and process for customers and designers.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30672"/>
          </a:xfrm>
          <a:prstGeom prst="rect">
            <a:avLst/>
          </a:prstGeom>
          <a:solidFill>
            <a:srgbClr val="FFF8F0"/>
          </a:solidFill>
          <a:ln w="11311">
            <a:solidFill>
              <a:srgbClr val="E5E0DF"/>
            </a:solidFill>
            <a:prstDash val="solid"/>
          </a:ln>
        </p:spPr>
        <p:txBody>
          <a:bodyPr/>
          <a:lstStyle/>
          <a:p>
            <a:endParaRPr lang="en-IN"/>
          </a:p>
        </p:txBody>
      </p:sp>
      <p:sp>
        <p:nvSpPr>
          <p:cNvPr id="4" name="Text 2"/>
          <p:cNvSpPr/>
          <p:nvPr/>
        </p:nvSpPr>
        <p:spPr>
          <a:xfrm>
            <a:off x="2974419" y="502563"/>
            <a:ext cx="6314242" cy="571143"/>
          </a:xfrm>
          <a:prstGeom prst="rect">
            <a:avLst/>
          </a:prstGeom>
          <a:noFill/>
          <a:ln/>
        </p:spPr>
        <p:txBody>
          <a:bodyPr wrap="none" rtlCol="0" anchor="t"/>
          <a:lstStyle/>
          <a:p>
            <a:pPr marL="0" indent="0">
              <a:lnSpc>
                <a:spcPts val="4497"/>
              </a:lnSpc>
              <a:buNone/>
            </a:pPr>
            <a:r>
              <a:rPr lang="en-US" sz="3598" kern="0" spc="-108" dirty="0">
                <a:solidFill>
                  <a:srgbClr val="2C3F42"/>
                </a:solidFill>
                <a:latin typeface="Bitter" pitchFamily="34" charset="0"/>
                <a:ea typeface="Bitter" pitchFamily="34" charset="-122"/>
                <a:cs typeface="Bitter" pitchFamily="34" charset="-120"/>
              </a:rPr>
              <a:t>Features of GRIHAMM Platform</a:t>
            </a:r>
            <a:endParaRPr lang="en-US" sz="3598" dirty="0"/>
          </a:p>
        </p:txBody>
      </p:sp>
      <p:sp>
        <p:nvSpPr>
          <p:cNvPr id="5" name="Text 3"/>
          <p:cNvSpPr/>
          <p:nvPr/>
        </p:nvSpPr>
        <p:spPr>
          <a:xfrm>
            <a:off x="2974419" y="1439228"/>
            <a:ext cx="8681442" cy="584835"/>
          </a:xfrm>
          <a:prstGeom prst="rect">
            <a:avLst/>
          </a:prstGeom>
          <a:noFill/>
          <a:ln/>
        </p:spPr>
        <p:txBody>
          <a:bodyPr wrap="square" rtlCol="0" anchor="t"/>
          <a:lstStyle/>
          <a:p>
            <a:pPr marL="0" indent="0">
              <a:lnSpc>
                <a:spcPts val="2303"/>
              </a:lnSpc>
              <a:buNone/>
            </a:pPr>
            <a:r>
              <a:rPr lang="en-US" sz="1439" kern="0" spc="-29" dirty="0">
                <a:solidFill>
                  <a:srgbClr val="2B2E3C"/>
                </a:solidFill>
                <a:latin typeface="Open Sans" pitchFamily="34" charset="0"/>
                <a:ea typeface="Open Sans" pitchFamily="34" charset="-122"/>
                <a:cs typeface="Open Sans" pitchFamily="34" charset="-120"/>
              </a:rPr>
              <a:t>GRIHAMM's phone app and web-based app provide users with a range of features that make the design experience easy, efficient, and enjoyable.</a:t>
            </a:r>
            <a:endParaRPr lang="en-US" sz="1439" dirty="0"/>
          </a:p>
        </p:txBody>
      </p:sp>
      <p:sp>
        <p:nvSpPr>
          <p:cNvPr id="6" name="Shape 4"/>
          <p:cNvSpPr/>
          <p:nvPr/>
        </p:nvSpPr>
        <p:spPr>
          <a:xfrm>
            <a:off x="2974419" y="5560219"/>
            <a:ext cx="8681442" cy="36552"/>
          </a:xfrm>
          <a:prstGeom prst="rect">
            <a:avLst/>
          </a:prstGeom>
          <a:solidFill>
            <a:srgbClr val="F9C59F"/>
          </a:solidFill>
          <a:ln/>
        </p:spPr>
        <p:txBody>
          <a:bodyPr/>
          <a:lstStyle/>
          <a:p>
            <a:endParaRPr lang="en-IN"/>
          </a:p>
        </p:txBody>
      </p:sp>
      <p:sp>
        <p:nvSpPr>
          <p:cNvPr id="7" name="Shape 5"/>
          <p:cNvSpPr/>
          <p:nvPr/>
        </p:nvSpPr>
        <p:spPr>
          <a:xfrm>
            <a:off x="4637544" y="5560219"/>
            <a:ext cx="36552" cy="639604"/>
          </a:xfrm>
          <a:prstGeom prst="rect">
            <a:avLst/>
          </a:prstGeom>
          <a:solidFill>
            <a:srgbClr val="F9C59F"/>
          </a:solidFill>
          <a:ln/>
        </p:spPr>
        <p:txBody>
          <a:bodyPr/>
          <a:lstStyle/>
          <a:p>
            <a:endParaRPr lang="en-IN"/>
          </a:p>
        </p:txBody>
      </p:sp>
      <p:sp>
        <p:nvSpPr>
          <p:cNvPr id="8" name="Shape 6"/>
          <p:cNvSpPr/>
          <p:nvPr/>
        </p:nvSpPr>
        <p:spPr>
          <a:xfrm>
            <a:off x="4450318" y="5354717"/>
            <a:ext cx="411123" cy="411123"/>
          </a:xfrm>
          <a:prstGeom prst="roundRect">
            <a:avLst>
              <a:gd name="adj" fmla="val 20005"/>
            </a:avLst>
          </a:prstGeom>
          <a:solidFill>
            <a:srgbClr val="FCE2CF"/>
          </a:solidFill>
          <a:ln w="11311">
            <a:solidFill>
              <a:srgbClr val="F9C59F"/>
            </a:solidFill>
            <a:prstDash val="solid"/>
          </a:ln>
        </p:spPr>
        <p:txBody>
          <a:bodyPr/>
          <a:lstStyle/>
          <a:p>
            <a:endParaRPr lang="en-IN"/>
          </a:p>
        </p:txBody>
      </p:sp>
      <p:sp>
        <p:nvSpPr>
          <p:cNvPr id="9" name="Text 7"/>
          <p:cNvSpPr/>
          <p:nvPr/>
        </p:nvSpPr>
        <p:spPr>
          <a:xfrm>
            <a:off x="4600456" y="5388888"/>
            <a:ext cx="110728" cy="342662"/>
          </a:xfrm>
          <a:prstGeom prst="rect">
            <a:avLst/>
          </a:prstGeom>
          <a:noFill/>
          <a:ln/>
        </p:spPr>
        <p:txBody>
          <a:bodyPr wrap="none" rtlCol="0" anchor="t"/>
          <a:lstStyle/>
          <a:p>
            <a:pPr marL="0" indent="0" algn="ctr">
              <a:lnSpc>
                <a:spcPts val="2698"/>
              </a:lnSpc>
              <a:buNone/>
            </a:pPr>
            <a:r>
              <a:rPr lang="en-US" sz="2159" kern="0" spc="-29" dirty="0">
                <a:solidFill>
                  <a:srgbClr val="2B2E3C"/>
                </a:solidFill>
                <a:latin typeface="Bitter" pitchFamily="34" charset="0"/>
                <a:ea typeface="Bitter" pitchFamily="34" charset="-122"/>
                <a:cs typeface="Bitter" pitchFamily="34" charset="-120"/>
              </a:rPr>
              <a:t>1</a:t>
            </a:r>
            <a:endParaRPr lang="en-US" sz="2159" dirty="0"/>
          </a:p>
        </p:txBody>
      </p:sp>
      <p:sp>
        <p:nvSpPr>
          <p:cNvPr id="10" name="Text 8"/>
          <p:cNvSpPr/>
          <p:nvPr/>
        </p:nvSpPr>
        <p:spPr>
          <a:xfrm>
            <a:off x="3589020" y="6382583"/>
            <a:ext cx="2133719" cy="285512"/>
          </a:xfrm>
          <a:prstGeom prst="rect">
            <a:avLst/>
          </a:prstGeom>
          <a:noFill/>
          <a:ln/>
        </p:spPr>
        <p:txBody>
          <a:bodyPr wrap="none" rtlCol="0" anchor="t"/>
          <a:lstStyle/>
          <a:p>
            <a:pPr marL="0" indent="0" algn="ctr">
              <a:lnSpc>
                <a:spcPts val="2249"/>
              </a:lnSpc>
              <a:buNone/>
            </a:pPr>
            <a:r>
              <a:rPr lang="en-US" sz="1799" kern="0" spc="-54" dirty="0">
                <a:solidFill>
                  <a:srgbClr val="2B2E3C"/>
                </a:solidFill>
                <a:latin typeface="Bitter" pitchFamily="34" charset="0"/>
                <a:ea typeface="Bitter" pitchFamily="34" charset="-122"/>
                <a:cs typeface="Bitter" pitchFamily="34" charset="-120"/>
              </a:rPr>
              <a:t>Design Model Library</a:t>
            </a:r>
            <a:endParaRPr lang="en-US" sz="1799" dirty="0"/>
          </a:p>
        </p:txBody>
      </p:sp>
      <p:sp>
        <p:nvSpPr>
          <p:cNvPr id="11" name="Text 9"/>
          <p:cNvSpPr/>
          <p:nvPr/>
        </p:nvSpPr>
        <p:spPr>
          <a:xfrm>
            <a:off x="3157180" y="6850856"/>
            <a:ext cx="2997398" cy="584835"/>
          </a:xfrm>
          <a:prstGeom prst="rect">
            <a:avLst/>
          </a:prstGeom>
          <a:noFill/>
          <a:ln/>
        </p:spPr>
        <p:txBody>
          <a:bodyPr wrap="square" rtlCol="0" anchor="t"/>
          <a:lstStyle/>
          <a:p>
            <a:pPr marL="0" indent="0" algn="ctr">
              <a:lnSpc>
                <a:spcPts val="2303"/>
              </a:lnSpc>
              <a:buNone/>
            </a:pPr>
            <a:r>
              <a:rPr lang="en-US" sz="1439" kern="0" spc="-29" dirty="0">
                <a:solidFill>
                  <a:srgbClr val="2B2E3C"/>
                </a:solidFill>
                <a:latin typeface="Open Sans" pitchFamily="34" charset="0"/>
                <a:ea typeface="Open Sans" pitchFamily="34" charset="-122"/>
                <a:cs typeface="Open Sans" pitchFamily="34" charset="-120"/>
              </a:rPr>
              <a:t>Access to a rich library of design models to choose from.</a:t>
            </a:r>
            <a:endParaRPr lang="en-US" sz="1439" dirty="0"/>
          </a:p>
        </p:txBody>
      </p:sp>
      <p:sp>
        <p:nvSpPr>
          <p:cNvPr id="12" name="Shape 10"/>
          <p:cNvSpPr/>
          <p:nvPr/>
        </p:nvSpPr>
        <p:spPr>
          <a:xfrm>
            <a:off x="6410385" y="4920615"/>
            <a:ext cx="36552" cy="639604"/>
          </a:xfrm>
          <a:prstGeom prst="rect">
            <a:avLst/>
          </a:prstGeom>
          <a:solidFill>
            <a:srgbClr val="F9C59F"/>
          </a:solidFill>
          <a:ln/>
        </p:spPr>
        <p:txBody>
          <a:bodyPr/>
          <a:lstStyle/>
          <a:p>
            <a:endParaRPr lang="en-IN"/>
          </a:p>
        </p:txBody>
      </p:sp>
      <p:sp>
        <p:nvSpPr>
          <p:cNvPr id="13" name="Shape 11"/>
          <p:cNvSpPr/>
          <p:nvPr/>
        </p:nvSpPr>
        <p:spPr>
          <a:xfrm>
            <a:off x="6223159" y="5354717"/>
            <a:ext cx="411123" cy="411123"/>
          </a:xfrm>
          <a:prstGeom prst="roundRect">
            <a:avLst>
              <a:gd name="adj" fmla="val 20005"/>
            </a:avLst>
          </a:prstGeom>
          <a:solidFill>
            <a:srgbClr val="FCE2CF"/>
          </a:solidFill>
          <a:ln w="11311">
            <a:solidFill>
              <a:srgbClr val="F9C59F"/>
            </a:solidFill>
            <a:prstDash val="solid"/>
          </a:ln>
        </p:spPr>
        <p:txBody>
          <a:bodyPr/>
          <a:lstStyle/>
          <a:p>
            <a:endParaRPr lang="en-IN"/>
          </a:p>
        </p:txBody>
      </p:sp>
      <p:sp>
        <p:nvSpPr>
          <p:cNvPr id="14" name="Text 12"/>
          <p:cNvSpPr/>
          <p:nvPr/>
        </p:nvSpPr>
        <p:spPr>
          <a:xfrm>
            <a:off x="6354247" y="5388888"/>
            <a:ext cx="148828" cy="342662"/>
          </a:xfrm>
          <a:prstGeom prst="rect">
            <a:avLst/>
          </a:prstGeom>
          <a:noFill/>
          <a:ln/>
        </p:spPr>
        <p:txBody>
          <a:bodyPr wrap="none" rtlCol="0" anchor="t"/>
          <a:lstStyle/>
          <a:p>
            <a:pPr marL="0" indent="0" algn="ctr">
              <a:lnSpc>
                <a:spcPts val="2698"/>
              </a:lnSpc>
              <a:buNone/>
            </a:pPr>
            <a:r>
              <a:rPr lang="en-US" sz="2159" kern="0" spc="-29" dirty="0">
                <a:solidFill>
                  <a:srgbClr val="2B2E3C"/>
                </a:solidFill>
                <a:latin typeface="Bitter" pitchFamily="34" charset="0"/>
                <a:ea typeface="Bitter" pitchFamily="34" charset="-122"/>
                <a:cs typeface="Bitter" pitchFamily="34" charset="-120"/>
              </a:rPr>
              <a:t>2</a:t>
            </a:r>
            <a:endParaRPr lang="en-US" sz="2159" dirty="0"/>
          </a:p>
        </p:txBody>
      </p:sp>
      <p:sp>
        <p:nvSpPr>
          <p:cNvPr id="15" name="Text 13"/>
          <p:cNvSpPr/>
          <p:nvPr/>
        </p:nvSpPr>
        <p:spPr>
          <a:xfrm>
            <a:off x="5388531" y="3684746"/>
            <a:ext cx="2080379" cy="285512"/>
          </a:xfrm>
          <a:prstGeom prst="rect">
            <a:avLst/>
          </a:prstGeom>
          <a:noFill/>
          <a:ln/>
        </p:spPr>
        <p:txBody>
          <a:bodyPr wrap="none" rtlCol="0" anchor="t"/>
          <a:lstStyle/>
          <a:p>
            <a:pPr marL="0" indent="0" algn="ctr">
              <a:lnSpc>
                <a:spcPts val="2249"/>
              </a:lnSpc>
              <a:buNone/>
            </a:pPr>
            <a:r>
              <a:rPr lang="en-US" sz="1799" kern="0" spc="-54" dirty="0">
                <a:solidFill>
                  <a:srgbClr val="2B2E3C"/>
                </a:solidFill>
                <a:latin typeface="Bitter" pitchFamily="34" charset="0"/>
                <a:ea typeface="Bitter" pitchFamily="34" charset="-122"/>
                <a:cs typeface="Bitter" pitchFamily="34" charset="-120"/>
              </a:rPr>
              <a:t>Designer Finder Tool</a:t>
            </a:r>
            <a:endParaRPr lang="en-US" sz="1799" dirty="0"/>
          </a:p>
        </p:txBody>
      </p:sp>
      <p:sp>
        <p:nvSpPr>
          <p:cNvPr id="16" name="Text 14"/>
          <p:cNvSpPr/>
          <p:nvPr/>
        </p:nvSpPr>
        <p:spPr>
          <a:xfrm>
            <a:off x="4930021" y="4153019"/>
            <a:ext cx="2997398" cy="584835"/>
          </a:xfrm>
          <a:prstGeom prst="rect">
            <a:avLst/>
          </a:prstGeom>
          <a:noFill/>
          <a:ln/>
        </p:spPr>
        <p:txBody>
          <a:bodyPr wrap="square" rtlCol="0" anchor="t"/>
          <a:lstStyle/>
          <a:p>
            <a:pPr marL="0" indent="0" algn="ctr">
              <a:lnSpc>
                <a:spcPts val="2303"/>
              </a:lnSpc>
              <a:buNone/>
            </a:pPr>
            <a:r>
              <a:rPr lang="en-US" sz="1439" kern="0" spc="-29" dirty="0">
                <a:solidFill>
                  <a:srgbClr val="2B2E3C"/>
                </a:solidFill>
                <a:latin typeface="Open Sans" pitchFamily="34" charset="0"/>
                <a:ea typeface="Open Sans" pitchFamily="34" charset="-122"/>
                <a:cs typeface="Open Sans" pitchFamily="34" charset="-120"/>
              </a:rPr>
              <a:t>Easily find reliable and verified designers nearby.</a:t>
            </a:r>
            <a:endParaRPr lang="en-US" sz="1439" dirty="0"/>
          </a:p>
        </p:txBody>
      </p:sp>
      <p:sp>
        <p:nvSpPr>
          <p:cNvPr id="17" name="Shape 15"/>
          <p:cNvSpPr/>
          <p:nvPr/>
        </p:nvSpPr>
        <p:spPr>
          <a:xfrm>
            <a:off x="8183225" y="5560219"/>
            <a:ext cx="36552" cy="639604"/>
          </a:xfrm>
          <a:prstGeom prst="rect">
            <a:avLst/>
          </a:prstGeom>
          <a:solidFill>
            <a:srgbClr val="F9C59F"/>
          </a:solidFill>
          <a:ln/>
        </p:spPr>
        <p:txBody>
          <a:bodyPr/>
          <a:lstStyle/>
          <a:p>
            <a:endParaRPr lang="en-IN"/>
          </a:p>
        </p:txBody>
      </p:sp>
      <p:sp>
        <p:nvSpPr>
          <p:cNvPr id="18" name="Shape 16"/>
          <p:cNvSpPr/>
          <p:nvPr/>
        </p:nvSpPr>
        <p:spPr>
          <a:xfrm>
            <a:off x="7995999" y="5354717"/>
            <a:ext cx="411123" cy="411123"/>
          </a:xfrm>
          <a:prstGeom prst="roundRect">
            <a:avLst>
              <a:gd name="adj" fmla="val 20005"/>
            </a:avLst>
          </a:prstGeom>
          <a:solidFill>
            <a:srgbClr val="FCE2CF"/>
          </a:solidFill>
          <a:ln w="11311">
            <a:solidFill>
              <a:srgbClr val="F9C59F"/>
            </a:solidFill>
            <a:prstDash val="solid"/>
          </a:ln>
        </p:spPr>
        <p:txBody>
          <a:bodyPr/>
          <a:lstStyle/>
          <a:p>
            <a:endParaRPr lang="en-IN"/>
          </a:p>
        </p:txBody>
      </p:sp>
      <p:sp>
        <p:nvSpPr>
          <p:cNvPr id="19" name="Text 17"/>
          <p:cNvSpPr/>
          <p:nvPr/>
        </p:nvSpPr>
        <p:spPr>
          <a:xfrm>
            <a:off x="8123277" y="5388888"/>
            <a:ext cx="156448" cy="342662"/>
          </a:xfrm>
          <a:prstGeom prst="rect">
            <a:avLst/>
          </a:prstGeom>
          <a:noFill/>
          <a:ln/>
        </p:spPr>
        <p:txBody>
          <a:bodyPr wrap="none" rtlCol="0" anchor="t"/>
          <a:lstStyle/>
          <a:p>
            <a:pPr marL="0" indent="0" algn="ctr">
              <a:lnSpc>
                <a:spcPts val="2698"/>
              </a:lnSpc>
              <a:buNone/>
            </a:pPr>
            <a:r>
              <a:rPr lang="en-US" sz="2159" kern="0" spc="-29" dirty="0">
                <a:solidFill>
                  <a:srgbClr val="2B2E3C"/>
                </a:solidFill>
                <a:latin typeface="Bitter" pitchFamily="34" charset="0"/>
                <a:ea typeface="Bitter" pitchFamily="34" charset="-122"/>
                <a:cs typeface="Bitter" pitchFamily="34" charset="-120"/>
              </a:rPr>
              <a:t>3</a:t>
            </a:r>
            <a:endParaRPr lang="en-US" sz="2159" dirty="0"/>
          </a:p>
        </p:txBody>
      </p:sp>
      <p:sp>
        <p:nvSpPr>
          <p:cNvPr id="20" name="Text 18"/>
          <p:cNvSpPr/>
          <p:nvPr/>
        </p:nvSpPr>
        <p:spPr>
          <a:xfrm>
            <a:off x="6931223" y="6382583"/>
            <a:ext cx="2540675" cy="285512"/>
          </a:xfrm>
          <a:prstGeom prst="rect">
            <a:avLst/>
          </a:prstGeom>
          <a:noFill/>
          <a:ln/>
        </p:spPr>
        <p:txBody>
          <a:bodyPr wrap="none" rtlCol="0" anchor="t"/>
          <a:lstStyle/>
          <a:p>
            <a:pPr marL="0" indent="0" algn="ctr">
              <a:lnSpc>
                <a:spcPts val="2249"/>
              </a:lnSpc>
              <a:buNone/>
            </a:pPr>
            <a:r>
              <a:rPr lang="en-US" sz="1799" kern="0" spc="-54" dirty="0">
                <a:solidFill>
                  <a:srgbClr val="2B2E3C"/>
                </a:solidFill>
                <a:latin typeface="Bitter" pitchFamily="34" charset="0"/>
                <a:ea typeface="Bitter" pitchFamily="34" charset="-122"/>
                <a:cs typeface="Bitter" pitchFamily="34" charset="-120"/>
              </a:rPr>
              <a:t>Virtual Room Design Tool</a:t>
            </a:r>
            <a:endParaRPr lang="en-US" sz="1799" dirty="0"/>
          </a:p>
        </p:txBody>
      </p:sp>
      <p:sp>
        <p:nvSpPr>
          <p:cNvPr id="21" name="Text 19"/>
          <p:cNvSpPr/>
          <p:nvPr/>
        </p:nvSpPr>
        <p:spPr>
          <a:xfrm>
            <a:off x="6702862" y="6850856"/>
            <a:ext cx="2997398" cy="877253"/>
          </a:xfrm>
          <a:prstGeom prst="rect">
            <a:avLst/>
          </a:prstGeom>
          <a:noFill/>
          <a:ln/>
        </p:spPr>
        <p:txBody>
          <a:bodyPr wrap="square" rtlCol="0" anchor="t"/>
          <a:lstStyle/>
          <a:p>
            <a:pPr marL="0" indent="0" algn="ctr">
              <a:lnSpc>
                <a:spcPts val="2303"/>
              </a:lnSpc>
              <a:buNone/>
            </a:pPr>
            <a:r>
              <a:rPr lang="en-US" sz="1439" kern="0" spc="-29" dirty="0">
                <a:solidFill>
                  <a:srgbClr val="2B2E3C"/>
                </a:solidFill>
                <a:latin typeface="Open Sans" pitchFamily="34" charset="0"/>
                <a:ea typeface="Open Sans" pitchFamily="34" charset="-122"/>
                <a:cs typeface="Open Sans" pitchFamily="34" charset="-120"/>
              </a:rPr>
              <a:t>Visualize your design in a virtual room to get a better idea of how it will look.</a:t>
            </a:r>
            <a:endParaRPr lang="en-US" sz="1439" dirty="0"/>
          </a:p>
        </p:txBody>
      </p:sp>
      <p:sp>
        <p:nvSpPr>
          <p:cNvPr id="22" name="Shape 20"/>
          <p:cNvSpPr/>
          <p:nvPr/>
        </p:nvSpPr>
        <p:spPr>
          <a:xfrm>
            <a:off x="9956066" y="4920615"/>
            <a:ext cx="36552" cy="639604"/>
          </a:xfrm>
          <a:prstGeom prst="rect">
            <a:avLst/>
          </a:prstGeom>
          <a:solidFill>
            <a:srgbClr val="F9C59F"/>
          </a:solidFill>
          <a:ln/>
        </p:spPr>
        <p:txBody>
          <a:bodyPr/>
          <a:lstStyle/>
          <a:p>
            <a:endParaRPr lang="en-IN"/>
          </a:p>
        </p:txBody>
      </p:sp>
      <p:sp>
        <p:nvSpPr>
          <p:cNvPr id="23" name="Shape 21"/>
          <p:cNvSpPr/>
          <p:nvPr/>
        </p:nvSpPr>
        <p:spPr>
          <a:xfrm>
            <a:off x="9768840" y="5354717"/>
            <a:ext cx="411123" cy="411123"/>
          </a:xfrm>
          <a:prstGeom prst="roundRect">
            <a:avLst>
              <a:gd name="adj" fmla="val 20005"/>
            </a:avLst>
          </a:prstGeom>
          <a:solidFill>
            <a:srgbClr val="FCE2CF"/>
          </a:solidFill>
          <a:ln w="11311">
            <a:solidFill>
              <a:srgbClr val="F9C59F"/>
            </a:solidFill>
            <a:prstDash val="solid"/>
          </a:ln>
        </p:spPr>
        <p:txBody>
          <a:bodyPr/>
          <a:lstStyle/>
          <a:p>
            <a:endParaRPr lang="en-IN"/>
          </a:p>
        </p:txBody>
      </p:sp>
      <p:sp>
        <p:nvSpPr>
          <p:cNvPr id="24" name="Text 22"/>
          <p:cNvSpPr/>
          <p:nvPr/>
        </p:nvSpPr>
        <p:spPr>
          <a:xfrm>
            <a:off x="9896118" y="5388888"/>
            <a:ext cx="156448" cy="342662"/>
          </a:xfrm>
          <a:prstGeom prst="rect">
            <a:avLst/>
          </a:prstGeom>
          <a:noFill/>
          <a:ln/>
        </p:spPr>
        <p:txBody>
          <a:bodyPr wrap="none" rtlCol="0" anchor="t"/>
          <a:lstStyle/>
          <a:p>
            <a:pPr marL="0" indent="0" algn="ctr">
              <a:lnSpc>
                <a:spcPts val="2698"/>
              </a:lnSpc>
              <a:buNone/>
            </a:pPr>
            <a:r>
              <a:rPr lang="en-US" sz="2159" kern="0" spc="-29" dirty="0">
                <a:solidFill>
                  <a:srgbClr val="2B2E3C"/>
                </a:solidFill>
                <a:latin typeface="Bitter" pitchFamily="34" charset="0"/>
                <a:ea typeface="Bitter" pitchFamily="34" charset="-122"/>
                <a:cs typeface="Bitter" pitchFamily="34" charset="-120"/>
              </a:rPr>
              <a:t>4</a:t>
            </a:r>
            <a:endParaRPr lang="en-US" sz="2159" dirty="0"/>
          </a:p>
        </p:txBody>
      </p:sp>
      <p:sp>
        <p:nvSpPr>
          <p:cNvPr id="25" name="Text 23"/>
          <p:cNvSpPr/>
          <p:nvPr/>
        </p:nvSpPr>
        <p:spPr>
          <a:xfrm>
            <a:off x="8475702" y="2229564"/>
            <a:ext cx="2997398" cy="571024"/>
          </a:xfrm>
          <a:prstGeom prst="rect">
            <a:avLst/>
          </a:prstGeom>
          <a:noFill/>
          <a:ln/>
        </p:spPr>
        <p:txBody>
          <a:bodyPr wrap="square" rtlCol="0" anchor="t"/>
          <a:lstStyle/>
          <a:p>
            <a:pPr marL="0" indent="0" algn="ctr">
              <a:lnSpc>
                <a:spcPts val="2249"/>
              </a:lnSpc>
              <a:buNone/>
            </a:pPr>
            <a:r>
              <a:rPr lang="en-US" sz="1799" kern="0" spc="-54" dirty="0">
                <a:solidFill>
                  <a:srgbClr val="2B2E3C"/>
                </a:solidFill>
                <a:latin typeface="Bitter" pitchFamily="34" charset="0"/>
                <a:ea typeface="Bitter" pitchFamily="34" charset="-122"/>
                <a:cs typeface="Bitter" pitchFamily="34" charset="-120"/>
              </a:rPr>
              <a:t>Geo-Based Execution Team Finder Tool</a:t>
            </a:r>
            <a:endParaRPr lang="en-US" sz="1799" dirty="0"/>
          </a:p>
        </p:txBody>
      </p:sp>
      <p:sp>
        <p:nvSpPr>
          <p:cNvPr id="26" name="Text 24"/>
          <p:cNvSpPr/>
          <p:nvPr/>
        </p:nvSpPr>
        <p:spPr>
          <a:xfrm>
            <a:off x="8475702" y="2983349"/>
            <a:ext cx="2997398" cy="1754505"/>
          </a:xfrm>
          <a:prstGeom prst="rect">
            <a:avLst/>
          </a:prstGeom>
          <a:noFill/>
          <a:ln/>
        </p:spPr>
        <p:txBody>
          <a:bodyPr wrap="square" rtlCol="0" anchor="t"/>
          <a:lstStyle/>
          <a:p>
            <a:pPr marL="0" indent="0" algn="ctr">
              <a:lnSpc>
                <a:spcPts val="2303"/>
              </a:lnSpc>
              <a:buNone/>
            </a:pPr>
            <a:r>
              <a:rPr lang="en-US" sz="1439" kern="0" spc="-29" dirty="0">
                <a:solidFill>
                  <a:srgbClr val="2B2E3C"/>
                </a:solidFill>
                <a:latin typeface="Open Sans" pitchFamily="34" charset="0"/>
                <a:ea typeface="Open Sans" pitchFamily="34" charset="-122"/>
                <a:cs typeface="Open Sans" pitchFamily="34" charset="-120"/>
              </a:rPr>
              <a:t>Find the perfect execution team for your project with GRIHAMM's geo-based finder tool! Simply input your location and project details and we'll match you with the best team nearby. Get started today!</a:t>
            </a:r>
            <a:endParaRPr lang="en-US" sz="143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743950"/>
          </a:xfrm>
          <a:prstGeom prst="rect">
            <a:avLst/>
          </a:prstGeom>
          <a:solidFill>
            <a:srgbClr val="FFF8F0"/>
          </a:solidFill>
          <a:ln w="9644">
            <a:solidFill>
              <a:srgbClr val="E5E0DF"/>
            </a:solidFill>
            <a:prstDash val="solid"/>
          </a:ln>
        </p:spPr>
        <p:txBody>
          <a:bodyPr/>
          <a:lstStyle/>
          <a:p>
            <a:endParaRPr lang="en-IN"/>
          </a:p>
        </p:txBody>
      </p:sp>
      <p:sp>
        <p:nvSpPr>
          <p:cNvPr id="4" name="Text 2"/>
          <p:cNvSpPr/>
          <p:nvPr/>
        </p:nvSpPr>
        <p:spPr>
          <a:xfrm>
            <a:off x="3621167" y="427673"/>
            <a:ext cx="5357932" cy="486013"/>
          </a:xfrm>
          <a:prstGeom prst="rect">
            <a:avLst/>
          </a:prstGeom>
          <a:noFill/>
          <a:ln/>
        </p:spPr>
        <p:txBody>
          <a:bodyPr wrap="none" rtlCol="0" anchor="t"/>
          <a:lstStyle/>
          <a:p>
            <a:pPr marL="0" indent="0">
              <a:lnSpc>
                <a:spcPts val="3827"/>
              </a:lnSpc>
              <a:buNone/>
            </a:pPr>
            <a:r>
              <a:rPr lang="en-US" sz="3062" kern="0" spc="-92" dirty="0">
                <a:solidFill>
                  <a:srgbClr val="2C3F42"/>
                </a:solidFill>
                <a:latin typeface="Bitter" pitchFamily="34" charset="0"/>
                <a:ea typeface="Bitter" pitchFamily="34" charset="-122"/>
                <a:cs typeface="Bitter" pitchFamily="34" charset="-120"/>
              </a:rPr>
              <a:t>Features of GRIHAMM Platform</a:t>
            </a:r>
            <a:endParaRPr lang="en-US" sz="3062" dirty="0"/>
          </a:p>
        </p:txBody>
      </p:sp>
      <p:sp>
        <p:nvSpPr>
          <p:cNvPr id="5" name="Text 3"/>
          <p:cNvSpPr/>
          <p:nvPr/>
        </p:nvSpPr>
        <p:spPr>
          <a:xfrm>
            <a:off x="3621167" y="1224677"/>
            <a:ext cx="7388066" cy="497443"/>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GRIHAMM's phone app and web-based app provide users with a range of features that make the design experience easy, efficient, and enjoyable.</a:t>
            </a:r>
            <a:endParaRPr lang="en-US" sz="1225" dirty="0"/>
          </a:p>
        </p:txBody>
      </p:sp>
      <p:sp>
        <p:nvSpPr>
          <p:cNvPr id="6" name="Shape 4"/>
          <p:cNvSpPr/>
          <p:nvPr/>
        </p:nvSpPr>
        <p:spPr>
          <a:xfrm>
            <a:off x="3621167" y="5228153"/>
            <a:ext cx="7388066" cy="31075"/>
          </a:xfrm>
          <a:prstGeom prst="rect">
            <a:avLst/>
          </a:prstGeom>
          <a:solidFill>
            <a:srgbClr val="F9C59F"/>
          </a:solidFill>
          <a:ln/>
        </p:spPr>
        <p:txBody>
          <a:bodyPr/>
          <a:lstStyle/>
          <a:p>
            <a:endParaRPr lang="en-IN"/>
          </a:p>
        </p:txBody>
      </p:sp>
      <p:sp>
        <p:nvSpPr>
          <p:cNvPr id="7" name="Shape 5"/>
          <p:cNvSpPr/>
          <p:nvPr/>
        </p:nvSpPr>
        <p:spPr>
          <a:xfrm>
            <a:off x="4785062" y="5228094"/>
            <a:ext cx="31075" cy="544354"/>
          </a:xfrm>
          <a:prstGeom prst="rect">
            <a:avLst/>
          </a:prstGeom>
          <a:solidFill>
            <a:srgbClr val="F9C59F"/>
          </a:solidFill>
          <a:ln/>
        </p:spPr>
        <p:txBody>
          <a:bodyPr/>
          <a:lstStyle/>
          <a:p>
            <a:endParaRPr lang="en-IN"/>
          </a:p>
        </p:txBody>
      </p:sp>
      <p:sp>
        <p:nvSpPr>
          <p:cNvPr id="8" name="Shape 6"/>
          <p:cNvSpPr/>
          <p:nvPr/>
        </p:nvSpPr>
        <p:spPr>
          <a:xfrm>
            <a:off x="4625697" y="5053191"/>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9" name="Text 7"/>
          <p:cNvSpPr/>
          <p:nvPr/>
        </p:nvSpPr>
        <p:spPr>
          <a:xfrm>
            <a:off x="4752618" y="5082242"/>
            <a:ext cx="9596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1</a:t>
            </a:r>
            <a:endParaRPr lang="en-US" sz="1837" dirty="0"/>
          </a:p>
        </p:txBody>
      </p:sp>
      <p:sp>
        <p:nvSpPr>
          <p:cNvPr id="10" name="Text 8"/>
          <p:cNvSpPr/>
          <p:nvPr/>
        </p:nvSpPr>
        <p:spPr>
          <a:xfrm>
            <a:off x="3891201" y="5928003"/>
            <a:ext cx="1818918" cy="243007"/>
          </a:xfrm>
          <a:prstGeom prst="rect">
            <a:avLst/>
          </a:prstGeom>
          <a:noFill/>
          <a:ln/>
        </p:spPr>
        <p:txBody>
          <a:bodyPr wrap="none" rtlCol="0" anchor="t"/>
          <a:lstStyle/>
          <a:p>
            <a:pPr marL="0" indent="0" algn="ctr">
              <a:lnSpc>
                <a:spcPts val="1914"/>
              </a:lnSpc>
              <a:buNone/>
            </a:pPr>
            <a:r>
              <a:rPr lang="en-US" sz="1531" kern="0" spc="-46" dirty="0">
                <a:solidFill>
                  <a:srgbClr val="2B2E3C"/>
                </a:solidFill>
                <a:latin typeface="Bitter" pitchFamily="34" charset="0"/>
                <a:ea typeface="Bitter" pitchFamily="34" charset="-122"/>
                <a:cs typeface="Bitter" pitchFamily="34" charset="-120"/>
              </a:rPr>
              <a:t>Design Model Library</a:t>
            </a:r>
            <a:endParaRPr lang="en-US" sz="1531" dirty="0"/>
          </a:p>
        </p:txBody>
      </p:sp>
      <p:sp>
        <p:nvSpPr>
          <p:cNvPr id="11" name="Text 9"/>
          <p:cNvSpPr/>
          <p:nvPr/>
        </p:nvSpPr>
        <p:spPr>
          <a:xfrm>
            <a:off x="3776662" y="6326505"/>
            <a:ext cx="2047994" cy="746165"/>
          </a:xfrm>
          <a:prstGeom prst="rect">
            <a:avLst/>
          </a:prstGeom>
          <a:noFill/>
          <a:ln/>
        </p:spPr>
        <p:txBody>
          <a:bodyPr wrap="square" rtlCol="0" anchor="t"/>
          <a:lstStyle/>
          <a:p>
            <a:pPr marL="0" indent="0" algn="ctr">
              <a:lnSpc>
                <a:spcPts val="1960"/>
              </a:lnSpc>
              <a:buNone/>
            </a:pPr>
            <a:r>
              <a:rPr lang="en-US" sz="1225" kern="0" spc="-24" dirty="0">
                <a:solidFill>
                  <a:srgbClr val="2B2E3C"/>
                </a:solidFill>
                <a:latin typeface="Open Sans" pitchFamily="34" charset="0"/>
                <a:ea typeface="Open Sans" pitchFamily="34" charset="-122"/>
                <a:cs typeface="Open Sans" pitchFamily="34" charset="-120"/>
              </a:rPr>
              <a:t>Access to a rich library of design models to choose from.</a:t>
            </a:r>
            <a:endParaRPr lang="en-US" sz="1225" dirty="0"/>
          </a:p>
        </p:txBody>
      </p:sp>
      <p:sp>
        <p:nvSpPr>
          <p:cNvPr id="12" name="Shape 10"/>
          <p:cNvSpPr/>
          <p:nvPr/>
        </p:nvSpPr>
        <p:spPr>
          <a:xfrm>
            <a:off x="6042362" y="4683859"/>
            <a:ext cx="31075" cy="544354"/>
          </a:xfrm>
          <a:prstGeom prst="rect">
            <a:avLst/>
          </a:prstGeom>
          <a:solidFill>
            <a:srgbClr val="F9C59F"/>
          </a:solidFill>
          <a:ln/>
        </p:spPr>
        <p:txBody>
          <a:bodyPr/>
          <a:lstStyle/>
          <a:p>
            <a:endParaRPr lang="en-IN"/>
          </a:p>
        </p:txBody>
      </p:sp>
      <p:sp>
        <p:nvSpPr>
          <p:cNvPr id="13" name="Shape 11"/>
          <p:cNvSpPr/>
          <p:nvPr/>
        </p:nvSpPr>
        <p:spPr>
          <a:xfrm>
            <a:off x="5882997" y="5053191"/>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14" name="Text 12"/>
          <p:cNvSpPr/>
          <p:nvPr/>
        </p:nvSpPr>
        <p:spPr>
          <a:xfrm>
            <a:off x="5994678" y="5082242"/>
            <a:ext cx="12644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2</a:t>
            </a:r>
            <a:endParaRPr lang="en-US" sz="1837" dirty="0"/>
          </a:p>
        </p:txBody>
      </p:sp>
      <p:sp>
        <p:nvSpPr>
          <p:cNvPr id="15" name="Text 13"/>
          <p:cNvSpPr/>
          <p:nvPr/>
        </p:nvSpPr>
        <p:spPr>
          <a:xfrm>
            <a:off x="5171242" y="3632359"/>
            <a:ext cx="1773198" cy="243007"/>
          </a:xfrm>
          <a:prstGeom prst="rect">
            <a:avLst/>
          </a:prstGeom>
          <a:noFill/>
          <a:ln/>
        </p:spPr>
        <p:txBody>
          <a:bodyPr wrap="none" rtlCol="0" anchor="t"/>
          <a:lstStyle/>
          <a:p>
            <a:pPr marL="0" indent="0" algn="ctr">
              <a:lnSpc>
                <a:spcPts val="1914"/>
              </a:lnSpc>
              <a:buNone/>
            </a:pPr>
            <a:r>
              <a:rPr lang="en-US" sz="1531" kern="0" spc="-46" dirty="0">
                <a:solidFill>
                  <a:srgbClr val="2B2E3C"/>
                </a:solidFill>
                <a:latin typeface="Bitter" pitchFamily="34" charset="0"/>
                <a:ea typeface="Bitter" pitchFamily="34" charset="-122"/>
                <a:cs typeface="Bitter" pitchFamily="34" charset="-120"/>
              </a:rPr>
              <a:t>Designer Finder Tool</a:t>
            </a:r>
            <a:endParaRPr lang="en-US" sz="1531" dirty="0"/>
          </a:p>
        </p:txBody>
      </p:sp>
      <p:sp>
        <p:nvSpPr>
          <p:cNvPr id="16" name="Text 14"/>
          <p:cNvSpPr/>
          <p:nvPr/>
        </p:nvSpPr>
        <p:spPr>
          <a:xfrm>
            <a:off x="5033843" y="4030861"/>
            <a:ext cx="2048113" cy="497443"/>
          </a:xfrm>
          <a:prstGeom prst="rect">
            <a:avLst/>
          </a:prstGeom>
          <a:noFill/>
          <a:ln/>
        </p:spPr>
        <p:txBody>
          <a:bodyPr wrap="square" rtlCol="0" anchor="t"/>
          <a:lstStyle/>
          <a:p>
            <a:pPr marL="0" indent="0" algn="ctr">
              <a:lnSpc>
                <a:spcPts val="1960"/>
              </a:lnSpc>
              <a:buNone/>
            </a:pPr>
            <a:r>
              <a:rPr lang="en-US" sz="1225" kern="0" spc="-24" dirty="0">
                <a:solidFill>
                  <a:srgbClr val="2B2E3C"/>
                </a:solidFill>
                <a:latin typeface="Open Sans" pitchFamily="34" charset="0"/>
                <a:ea typeface="Open Sans" pitchFamily="34" charset="-122"/>
                <a:cs typeface="Open Sans" pitchFamily="34" charset="-120"/>
              </a:rPr>
              <a:t>Easily find reliable and verified designers nearby.</a:t>
            </a:r>
            <a:endParaRPr lang="en-US" sz="1225" dirty="0"/>
          </a:p>
        </p:txBody>
      </p:sp>
      <p:sp>
        <p:nvSpPr>
          <p:cNvPr id="17" name="Shape 15"/>
          <p:cNvSpPr/>
          <p:nvPr/>
        </p:nvSpPr>
        <p:spPr>
          <a:xfrm>
            <a:off x="7299543" y="5228094"/>
            <a:ext cx="31075" cy="544354"/>
          </a:xfrm>
          <a:prstGeom prst="rect">
            <a:avLst/>
          </a:prstGeom>
          <a:solidFill>
            <a:srgbClr val="F9C59F"/>
          </a:solidFill>
          <a:ln/>
        </p:spPr>
        <p:txBody>
          <a:bodyPr/>
          <a:lstStyle/>
          <a:p>
            <a:endParaRPr lang="en-IN"/>
          </a:p>
        </p:txBody>
      </p:sp>
      <p:sp>
        <p:nvSpPr>
          <p:cNvPr id="18" name="Shape 16"/>
          <p:cNvSpPr/>
          <p:nvPr/>
        </p:nvSpPr>
        <p:spPr>
          <a:xfrm>
            <a:off x="7140178" y="5053191"/>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19" name="Text 17"/>
          <p:cNvSpPr/>
          <p:nvPr/>
        </p:nvSpPr>
        <p:spPr>
          <a:xfrm>
            <a:off x="7248049" y="5082242"/>
            <a:ext cx="13406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3</a:t>
            </a:r>
            <a:endParaRPr lang="en-US" sz="1837" dirty="0"/>
          </a:p>
        </p:txBody>
      </p:sp>
      <p:sp>
        <p:nvSpPr>
          <p:cNvPr id="20" name="Text 18"/>
          <p:cNvSpPr/>
          <p:nvPr/>
        </p:nvSpPr>
        <p:spPr>
          <a:xfrm>
            <a:off x="6291143" y="5928003"/>
            <a:ext cx="2047994" cy="486013"/>
          </a:xfrm>
          <a:prstGeom prst="rect">
            <a:avLst/>
          </a:prstGeom>
          <a:noFill/>
          <a:ln/>
        </p:spPr>
        <p:txBody>
          <a:bodyPr wrap="square" rtlCol="0" anchor="t"/>
          <a:lstStyle/>
          <a:p>
            <a:pPr marL="0" indent="0" algn="ctr">
              <a:lnSpc>
                <a:spcPts val="1914"/>
              </a:lnSpc>
              <a:buNone/>
            </a:pPr>
            <a:r>
              <a:rPr lang="en-US" sz="1531" kern="0" spc="-46" dirty="0">
                <a:solidFill>
                  <a:srgbClr val="2B2E3C"/>
                </a:solidFill>
                <a:latin typeface="Bitter" pitchFamily="34" charset="0"/>
                <a:ea typeface="Bitter" pitchFamily="34" charset="-122"/>
                <a:cs typeface="Bitter" pitchFamily="34" charset="-120"/>
              </a:rPr>
              <a:t>Virtual Room Design Tool</a:t>
            </a:r>
            <a:endParaRPr lang="en-US" sz="1531" dirty="0"/>
          </a:p>
        </p:txBody>
      </p:sp>
      <p:sp>
        <p:nvSpPr>
          <p:cNvPr id="21" name="Text 19"/>
          <p:cNvSpPr/>
          <p:nvPr/>
        </p:nvSpPr>
        <p:spPr>
          <a:xfrm>
            <a:off x="6291143" y="6569512"/>
            <a:ext cx="2047994" cy="746165"/>
          </a:xfrm>
          <a:prstGeom prst="rect">
            <a:avLst/>
          </a:prstGeom>
          <a:noFill/>
          <a:ln/>
        </p:spPr>
        <p:txBody>
          <a:bodyPr wrap="square" rtlCol="0" anchor="t"/>
          <a:lstStyle/>
          <a:p>
            <a:pPr marL="0" indent="0" algn="ctr">
              <a:lnSpc>
                <a:spcPts val="1960"/>
              </a:lnSpc>
              <a:buNone/>
            </a:pPr>
            <a:r>
              <a:rPr lang="en-US" sz="1225" kern="0" spc="-24" dirty="0">
                <a:solidFill>
                  <a:srgbClr val="2B2E3C"/>
                </a:solidFill>
                <a:latin typeface="Open Sans" pitchFamily="34" charset="0"/>
                <a:ea typeface="Open Sans" pitchFamily="34" charset="-122"/>
                <a:cs typeface="Open Sans" pitchFamily="34" charset="-120"/>
              </a:rPr>
              <a:t>Visualize your design in a virtual room to get a better idea of how it will look.</a:t>
            </a:r>
            <a:endParaRPr lang="en-US" sz="1225" dirty="0"/>
          </a:p>
        </p:txBody>
      </p:sp>
      <p:sp>
        <p:nvSpPr>
          <p:cNvPr id="22" name="Shape 20"/>
          <p:cNvSpPr/>
          <p:nvPr/>
        </p:nvSpPr>
        <p:spPr>
          <a:xfrm>
            <a:off x="8556843" y="4683859"/>
            <a:ext cx="31075" cy="544354"/>
          </a:xfrm>
          <a:prstGeom prst="rect">
            <a:avLst/>
          </a:prstGeom>
          <a:solidFill>
            <a:srgbClr val="F9C59F"/>
          </a:solidFill>
          <a:ln/>
        </p:spPr>
        <p:txBody>
          <a:bodyPr/>
          <a:lstStyle/>
          <a:p>
            <a:endParaRPr lang="en-IN"/>
          </a:p>
        </p:txBody>
      </p:sp>
      <p:sp>
        <p:nvSpPr>
          <p:cNvPr id="23" name="Shape 21"/>
          <p:cNvSpPr/>
          <p:nvPr/>
        </p:nvSpPr>
        <p:spPr>
          <a:xfrm>
            <a:off x="8397478" y="5053191"/>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24" name="Text 22"/>
          <p:cNvSpPr/>
          <p:nvPr/>
        </p:nvSpPr>
        <p:spPr>
          <a:xfrm>
            <a:off x="8505349" y="5082242"/>
            <a:ext cx="13406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4</a:t>
            </a:r>
            <a:endParaRPr lang="en-US" sz="1837" dirty="0"/>
          </a:p>
        </p:txBody>
      </p:sp>
      <p:sp>
        <p:nvSpPr>
          <p:cNvPr id="25" name="Text 23"/>
          <p:cNvSpPr/>
          <p:nvPr/>
        </p:nvSpPr>
        <p:spPr>
          <a:xfrm>
            <a:off x="7548443" y="1897023"/>
            <a:ext cx="2047994" cy="486013"/>
          </a:xfrm>
          <a:prstGeom prst="rect">
            <a:avLst/>
          </a:prstGeom>
          <a:noFill/>
          <a:ln/>
        </p:spPr>
        <p:txBody>
          <a:bodyPr wrap="square" rtlCol="0" anchor="t"/>
          <a:lstStyle/>
          <a:p>
            <a:pPr marL="0" indent="0" algn="ctr">
              <a:lnSpc>
                <a:spcPts val="1914"/>
              </a:lnSpc>
              <a:buNone/>
            </a:pPr>
            <a:r>
              <a:rPr lang="en-US" sz="1531" kern="0" spc="-46" dirty="0">
                <a:solidFill>
                  <a:srgbClr val="2B2E3C"/>
                </a:solidFill>
                <a:latin typeface="Bitter" pitchFamily="34" charset="0"/>
                <a:ea typeface="Bitter" pitchFamily="34" charset="-122"/>
                <a:cs typeface="Bitter" pitchFamily="34" charset="-120"/>
              </a:rPr>
              <a:t>Geo-Based Execution Team Finder Tool</a:t>
            </a:r>
            <a:endParaRPr lang="en-US" sz="1531" dirty="0"/>
          </a:p>
        </p:txBody>
      </p:sp>
      <p:sp>
        <p:nvSpPr>
          <p:cNvPr id="26" name="Text 24"/>
          <p:cNvSpPr/>
          <p:nvPr/>
        </p:nvSpPr>
        <p:spPr>
          <a:xfrm>
            <a:off x="7548443" y="2538532"/>
            <a:ext cx="2047994" cy="1989773"/>
          </a:xfrm>
          <a:prstGeom prst="rect">
            <a:avLst/>
          </a:prstGeom>
          <a:noFill/>
          <a:ln/>
        </p:spPr>
        <p:txBody>
          <a:bodyPr wrap="square" rtlCol="0" anchor="t"/>
          <a:lstStyle/>
          <a:p>
            <a:pPr marL="0" indent="0" algn="ctr">
              <a:lnSpc>
                <a:spcPts val="1960"/>
              </a:lnSpc>
              <a:buNone/>
            </a:pPr>
            <a:r>
              <a:rPr lang="en-US" sz="1225" kern="0" spc="-24" dirty="0">
                <a:solidFill>
                  <a:srgbClr val="2B2E3C"/>
                </a:solidFill>
                <a:latin typeface="Open Sans" pitchFamily="34" charset="0"/>
                <a:ea typeface="Open Sans" pitchFamily="34" charset="-122"/>
                <a:cs typeface="Open Sans" pitchFamily="34" charset="-120"/>
              </a:rPr>
              <a:t>Find the perfect execution team for your project with GRIHAMM's geo-based finder tool! Simply input your location and project details and we'll match you with the best team nearby. Get started today!</a:t>
            </a:r>
            <a:endParaRPr lang="en-US" sz="1225" dirty="0"/>
          </a:p>
        </p:txBody>
      </p:sp>
      <p:sp>
        <p:nvSpPr>
          <p:cNvPr id="27" name="Shape 25"/>
          <p:cNvSpPr/>
          <p:nvPr/>
        </p:nvSpPr>
        <p:spPr>
          <a:xfrm>
            <a:off x="9814143" y="5228094"/>
            <a:ext cx="31075" cy="544354"/>
          </a:xfrm>
          <a:prstGeom prst="rect">
            <a:avLst/>
          </a:prstGeom>
          <a:solidFill>
            <a:srgbClr val="F9C59F"/>
          </a:solidFill>
          <a:ln/>
        </p:spPr>
        <p:txBody>
          <a:bodyPr/>
          <a:lstStyle/>
          <a:p>
            <a:endParaRPr lang="en-IN"/>
          </a:p>
        </p:txBody>
      </p:sp>
      <p:sp>
        <p:nvSpPr>
          <p:cNvPr id="28" name="Shape 26"/>
          <p:cNvSpPr/>
          <p:nvPr/>
        </p:nvSpPr>
        <p:spPr>
          <a:xfrm>
            <a:off x="9654778" y="5053191"/>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29" name="Text 27"/>
          <p:cNvSpPr/>
          <p:nvPr/>
        </p:nvSpPr>
        <p:spPr>
          <a:xfrm>
            <a:off x="9770269" y="5082242"/>
            <a:ext cx="11882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5</a:t>
            </a:r>
            <a:endParaRPr lang="en-US" sz="1837" dirty="0"/>
          </a:p>
        </p:txBody>
      </p:sp>
      <p:sp>
        <p:nvSpPr>
          <p:cNvPr id="30" name="Text 28"/>
          <p:cNvSpPr/>
          <p:nvPr/>
        </p:nvSpPr>
        <p:spPr>
          <a:xfrm>
            <a:off x="8830747" y="5928003"/>
            <a:ext cx="1997750" cy="243007"/>
          </a:xfrm>
          <a:prstGeom prst="rect">
            <a:avLst/>
          </a:prstGeom>
          <a:noFill/>
          <a:ln/>
        </p:spPr>
        <p:txBody>
          <a:bodyPr wrap="none" rtlCol="0" anchor="t"/>
          <a:lstStyle/>
          <a:p>
            <a:pPr marL="0" indent="0" algn="ctr">
              <a:lnSpc>
                <a:spcPts val="1914"/>
              </a:lnSpc>
              <a:buNone/>
            </a:pPr>
            <a:r>
              <a:rPr lang="en-US" sz="1531" kern="0" spc="-46" dirty="0">
                <a:solidFill>
                  <a:srgbClr val="2B2E3C"/>
                </a:solidFill>
                <a:latin typeface="Bitter" pitchFamily="34" charset="0"/>
                <a:ea typeface="Bitter" pitchFamily="34" charset="-122"/>
                <a:cs typeface="Bitter" pitchFamily="34" charset="-120"/>
              </a:rPr>
              <a:t>Audit of the Work Done</a:t>
            </a:r>
            <a:endParaRPr lang="en-US" sz="1531" dirty="0"/>
          </a:p>
        </p:txBody>
      </p:sp>
      <p:sp>
        <p:nvSpPr>
          <p:cNvPr id="31" name="Text 29"/>
          <p:cNvSpPr/>
          <p:nvPr/>
        </p:nvSpPr>
        <p:spPr>
          <a:xfrm>
            <a:off x="8805624" y="6326505"/>
            <a:ext cx="2048113" cy="1989773"/>
          </a:xfrm>
          <a:prstGeom prst="rect">
            <a:avLst/>
          </a:prstGeom>
          <a:noFill/>
          <a:ln/>
        </p:spPr>
        <p:txBody>
          <a:bodyPr wrap="square" rtlCol="0" anchor="t"/>
          <a:lstStyle/>
          <a:p>
            <a:pPr marL="0" indent="0" algn="ctr">
              <a:lnSpc>
                <a:spcPts val="1960"/>
              </a:lnSpc>
              <a:buNone/>
            </a:pPr>
            <a:r>
              <a:rPr lang="en-US" sz="1225" kern="0" spc="-24" dirty="0">
                <a:solidFill>
                  <a:srgbClr val="2B2E3C"/>
                </a:solidFill>
                <a:latin typeface="Open Sans" pitchFamily="34" charset="0"/>
                <a:ea typeface="Open Sans" pitchFamily="34" charset="-122"/>
                <a:cs typeface="Open Sans" pitchFamily="34" charset="-120"/>
              </a:rPr>
              <a:t>Want to make sure your project is on track? GRIHAMM's audit feature lets you track your project's progress and ensures that the work is being done to your satisfaction. Get started today!</a:t>
            </a:r>
            <a:endParaRPr lang="en-US" sz="12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29600"/>
          </a:xfrm>
          <a:prstGeom prst="rect">
            <a:avLst/>
          </a:prstGeom>
          <a:solidFill>
            <a:srgbClr val="FFF8F0"/>
          </a:solidFill>
          <a:ln w="13811">
            <a:solidFill>
              <a:srgbClr val="E5E0DF"/>
            </a:solidFill>
            <a:prstDash val="solid"/>
          </a:ln>
        </p:spPr>
        <p:txBody>
          <a:bodyPr/>
          <a:lstStyle/>
          <a:p>
            <a:endParaRPr lang="en-IN"/>
          </a:p>
        </p:txBody>
      </p:sp>
      <p:sp>
        <p:nvSpPr>
          <p:cNvPr id="4" name="Text 2"/>
          <p:cNvSpPr/>
          <p:nvPr/>
        </p:nvSpPr>
        <p:spPr>
          <a:xfrm>
            <a:off x="2037993" y="636151"/>
            <a:ext cx="9071372" cy="694373"/>
          </a:xfrm>
          <a:prstGeom prst="rect">
            <a:avLst/>
          </a:prstGeom>
          <a:noFill/>
          <a:ln/>
        </p:spPr>
        <p:txBody>
          <a:bodyPr wrap="none" rtlCol="0" anchor="t"/>
          <a:lstStyle/>
          <a:p>
            <a:pPr marL="0" indent="0">
              <a:lnSpc>
                <a:spcPts val="5468"/>
              </a:lnSpc>
              <a:buNone/>
            </a:pPr>
            <a:r>
              <a:rPr lang="en-US" sz="4374" kern="0" spc="-131" dirty="0">
                <a:solidFill>
                  <a:srgbClr val="2C3F42"/>
                </a:solidFill>
                <a:latin typeface="Bitter" pitchFamily="34" charset="0"/>
                <a:ea typeface="Bitter" pitchFamily="34" charset="-122"/>
                <a:cs typeface="Bitter" pitchFamily="34" charset="-120"/>
              </a:rPr>
              <a:t>Project Cost Management with Wallet</a:t>
            </a:r>
            <a:endParaRPr lang="en-US" sz="4374" dirty="0"/>
          </a:p>
        </p:txBody>
      </p:sp>
      <p:sp>
        <p:nvSpPr>
          <p:cNvPr id="5" name="Text 3"/>
          <p:cNvSpPr/>
          <p:nvPr/>
        </p:nvSpPr>
        <p:spPr>
          <a:xfrm>
            <a:off x="2037993" y="1774865"/>
            <a:ext cx="10554414" cy="1421606"/>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Keep your project finances organized and transparent with GRIHAMM's wallet feature. The wallet allows you to easily manage project expenses and track your spending, ensuring that your project stays on budget. With real-time updates and detailed reports, you can stay informed and in control of your project finances at all times.</a:t>
            </a:r>
            <a:endParaRPr lang="en-US" sz="1750" dirty="0"/>
          </a:p>
        </p:txBody>
      </p:sp>
      <p:pic>
        <p:nvPicPr>
          <p:cNvPr id="6" name="Image 0" descr="preencoded.png"/>
          <p:cNvPicPr>
            <a:picLocks noChangeAspect="1"/>
          </p:cNvPicPr>
          <p:nvPr/>
        </p:nvPicPr>
        <p:blipFill>
          <a:blip r:embed="rId3"/>
          <a:stretch>
            <a:fillRect/>
          </a:stretch>
        </p:blipFill>
        <p:spPr>
          <a:xfrm>
            <a:off x="2037993" y="3446383"/>
            <a:ext cx="5110520" cy="3158490"/>
          </a:xfrm>
          <a:prstGeom prst="rect">
            <a:avLst/>
          </a:prstGeom>
        </p:spPr>
      </p:pic>
      <p:sp>
        <p:nvSpPr>
          <p:cNvPr id="7" name="Text 4"/>
          <p:cNvSpPr/>
          <p:nvPr/>
        </p:nvSpPr>
        <p:spPr>
          <a:xfrm>
            <a:off x="2037993" y="6882527"/>
            <a:ext cx="5110520" cy="710803"/>
          </a:xfrm>
          <a:prstGeom prst="rect">
            <a:avLst/>
          </a:prstGeom>
          <a:noFill/>
          <a:ln/>
        </p:spPr>
        <p:txBody>
          <a:bodyPr wrap="square" rtlCol="0" anchor="t"/>
          <a:lstStyle/>
          <a:p>
            <a:pPr marL="0" indent="0" algn="l">
              <a:lnSpc>
                <a:spcPts val="2799"/>
              </a:lnSpc>
              <a:buNone/>
            </a:pPr>
            <a:r>
              <a:rPr lang="en-US" sz="1750" kern="0" spc="-35" dirty="0">
                <a:solidFill>
                  <a:srgbClr val="2B2E3C"/>
                </a:solidFill>
                <a:latin typeface="Open Sans" pitchFamily="34" charset="0"/>
                <a:ea typeface="Open Sans" pitchFamily="34" charset="-122"/>
                <a:cs typeface="Open Sans" pitchFamily="34" charset="-120"/>
              </a:rPr>
              <a:t>Manage project expenses and track spending in real-time with the wallet feature.</a:t>
            </a:r>
            <a:endParaRPr lang="en-US" sz="1750" dirty="0"/>
          </a:p>
        </p:txBody>
      </p:sp>
      <p:pic>
        <p:nvPicPr>
          <p:cNvPr id="8" name="Image 1" descr="preencoded.png"/>
          <p:cNvPicPr>
            <a:picLocks noChangeAspect="1"/>
          </p:cNvPicPr>
          <p:nvPr/>
        </p:nvPicPr>
        <p:blipFill>
          <a:blip r:embed="rId4"/>
          <a:stretch>
            <a:fillRect/>
          </a:stretch>
        </p:blipFill>
        <p:spPr>
          <a:xfrm>
            <a:off x="7481768" y="3446383"/>
            <a:ext cx="5110639" cy="3158609"/>
          </a:xfrm>
          <a:prstGeom prst="rect">
            <a:avLst/>
          </a:prstGeom>
        </p:spPr>
      </p:pic>
      <p:sp>
        <p:nvSpPr>
          <p:cNvPr id="9" name="Text 5"/>
          <p:cNvSpPr/>
          <p:nvPr/>
        </p:nvSpPr>
        <p:spPr>
          <a:xfrm>
            <a:off x="7481768" y="6882646"/>
            <a:ext cx="5110639" cy="710803"/>
          </a:xfrm>
          <a:prstGeom prst="rect">
            <a:avLst/>
          </a:prstGeom>
          <a:noFill/>
          <a:ln/>
        </p:spPr>
        <p:txBody>
          <a:bodyPr wrap="square" rtlCol="0" anchor="t"/>
          <a:lstStyle/>
          <a:p>
            <a:pPr marL="0" indent="0" algn="l">
              <a:lnSpc>
                <a:spcPts val="2799"/>
              </a:lnSpc>
              <a:buNone/>
            </a:pPr>
            <a:r>
              <a:rPr lang="en-US" sz="1750" kern="0" spc="-35" dirty="0">
                <a:solidFill>
                  <a:srgbClr val="2B2E3C"/>
                </a:solidFill>
                <a:latin typeface="Open Sans" pitchFamily="34" charset="0"/>
                <a:ea typeface="Open Sans" pitchFamily="34" charset="-122"/>
                <a:cs typeface="Open Sans" pitchFamily="34" charset="-120"/>
              </a:rPr>
              <a:t>Stay informed and in control of your project finances with detailed reports.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827175"/>
          </a:xfrm>
          <a:prstGeom prst="rect">
            <a:avLst/>
          </a:prstGeom>
          <a:solidFill>
            <a:srgbClr val="FFF8F0"/>
          </a:solidFill>
          <a:ln w="9644">
            <a:solidFill>
              <a:srgbClr val="E5E0DF"/>
            </a:solidFill>
            <a:prstDash val="solid"/>
          </a:ln>
        </p:spPr>
        <p:txBody>
          <a:bodyPr/>
          <a:lstStyle/>
          <a:p>
            <a:endParaRPr lang="en-IN"/>
          </a:p>
        </p:txBody>
      </p:sp>
      <p:sp>
        <p:nvSpPr>
          <p:cNvPr id="4" name="Text 2"/>
          <p:cNvSpPr/>
          <p:nvPr/>
        </p:nvSpPr>
        <p:spPr>
          <a:xfrm>
            <a:off x="3621167" y="427673"/>
            <a:ext cx="4474964" cy="486013"/>
          </a:xfrm>
          <a:prstGeom prst="rect">
            <a:avLst/>
          </a:prstGeom>
          <a:noFill/>
          <a:ln/>
        </p:spPr>
        <p:txBody>
          <a:bodyPr wrap="none" rtlCol="0" anchor="t"/>
          <a:lstStyle/>
          <a:p>
            <a:pPr marL="0" indent="0">
              <a:lnSpc>
                <a:spcPts val="3827"/>
              </a:lnSpc>
              <a:buNone/>
            </a:pPr>
            <a:r>
              <a:rPr lang="en-US" sz="3062" kern="0" spc="-92" dirty="0">
                <a:solidFill>
                  <a:srgbClr val="2C3F42"/>
                </a:solidFill>
                <a:latin typeface="Bitter" pitchFamily="34" charset="0"/>
                <a:ea typeface="Bitter" pitchFamily="34" charset="-122"/>
                <a:cs typeface="Bitter" pitchFamily="34" charset="-120"/>
              </a:rPr>
              <a:t>Advantages for Customers</a:t>
            </a:r>
            <a:endParaRPr lang="en-US" sz="3062" dirty="0"/>
          </a:p>
        </p:txBody>
      </p:sp>
      <p:sp>
        <p:nvSpPr>
          <p:cNvPr id="5" name="Text 3"/>
          <p:cNvSpPr/>
          <p:nvPr/>
        </p:nvSpPr>
        <p:spPr>
          <a:xfrm>
            <a:off x="3621167" y="1224677"/>
            <a:ext cx="7388066" cy="497443"/>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GRIHAMM's platform offers customers a range of advantages that make the design process easy, convenient, and enjoyable, with plenty of variety and choice, including:</a:t>
            </a:r>
            <a:endParaRPr lang="en-US" sz="1225" dirty="0"/>
          </a:p>
        </p:txBody>
      </p:sp>
      <p:sp>
        <p:nvSpPr>
          <p:cNvPr id="6" name="Shape 4"/>
          <p:cNvSpPr/>
          <p:nvPr/>
        </p:nvSpPr>
        <p:spPr>
          <a:xfrm>
            <a:off x="3621167" y="2018467"/>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7" name="Text 5"/>
          <p:cNvSpPr/>
          <p:nvPr/>
        </p:nvSpPr>
        <p:spPr>
          <a:xfrm>
            <a:off x="3748087" y="2047518"/>
            <a:ext cx="9596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1</a:t>
            </a:r>
            <a:endParaRPr lang="en-US" sz="1837" dirty="0"/>
          </a:p>
        </p:txBody>
      </p:sp>
      <p:sp>
        <p:nvSpPr>
          <p:cNvPr id="8" name="Text 6"/>
          <p:cNvSpPr/>
          <p:nvPr/>
        </p:nvSpPr>
        <p:spPr>
          <a:xfrm>
            <a:off x="4126587" y="2071926"/>
            <a:ext cx="2968109" cy="243007"/>
          </a:xfrm>
          <a:prstGeom prst="rect">
            <a:avLst/>
          </a:prstGeom>
          <a:noFill/>
          <a:ln/>
        </p:spPr>
        <p:txBody>
          <a:bodyPr wrap="none" rtlCol="0" anchor="t"/>
          <a:lstStyle/>
          <a:p>
            <a:pPr marL="0" indent="0">
              <a:lnSpc>
                <a:spcPts val="1914"/>
              </a:lnSpc>
              <a:buNone/>
            </a:pPr>
            <a:r>
              <a:rPr lang="en-US" sz="1531" kern="0" spc="-46" dirty="0">
                <a:solidFill>
                  <a:srgbClr val="2B2E3C"/>
                </a:solidFill>
                <a:latin typeface="Bitter" pitchFamily="34" charset="0"/>
                <a:ea typeface="Bitter" pitchFamily="34" charset="-122"/>
                <a:cs typeface="Bitter" pitchFamily="34" charset="-120"/>
              </a:rPr>
              <a:t>Customer Satisfaction Guaranteed</a:t>
            </a:r>
            <a:endParaRPr lang="en-US" sz="1531" dirty="0"/>
          </a:p>
        </p:txBody>
      </p:sp>
      <p:sp>
        <p:nvSpPr>
          <p:cNvPr id="9" name="Text 7"/>
          <p:cNvSpPr/>
          <p:nvPr/>
        </p:nvSpPr>
        <p:spPr>
          <a:xfrm>
            <a:off x="4126587" y="2470428"/>
            <a:ext cx="3110865" cy="994886"/>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If customers are not satisfied with the execution partners, they can claim for Physical audit and refund on the part not done well.</a:t>
            </a:r>
            <a:endParaRPr lang="en-US" sz="1225" dirty="0"/>
          </a:p>
        </p:txBody>
      </p:sp>
      <p:sp>
        <p:nvSpPr>
          <p:cNvPr id="10" name="Shape 8"/>
          <p:cNvSpPr/>
          <p:nvPr/>
        </p:nvSpPr>
        <p:spPr>
          <a:xfrm>
            <a:off x="7392948" y="2018467"/>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11" name="Text 9"/>
          <p:cNvSpPr/>
          <p:nvPr/>
        </p:nvSpPr>
        <p:spPr>
          <a:xfrm>
            <a:off x="7504628" y="2047518"/>
            <a:ext cx="12644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2</a:t>
            </a:r>
            <a:endParaRPr lang="en-US" sz="1837" dirty="0"/>
          </a:p>
        </p:txBody>
      </p:sp>
      <p:sp>
        <p:nvSpPr>
          <p:cNvPr id="12" name="Text 10"/>
          <p:cNvSpPr/>
          <p:nvPr/>
        </p:nvSpPr>
        <p:spPr>
          <a:xfrm>
            <a:off x="7898368" y="2071926"/>
            <a:ext cx="2323148" cy="243007"/>
          </a:xfrm>
          <a:prstGeom prst="rect">
            <a:avLst/>
          </a:prstGeom>
          <a:noFill/>
          <a:ln/>
        </p:spPr>
        <p:txBody>
          <a:bodyPr wrap="none" rtlCol="0" anchor="t"/>
          <a:lstStyle/>
          <a:p>
            <a:pPr marL="0" indent="0">
              <a:lnSpc>
                <a:spcPts val="1914"/>
              </a:lnSpc>
              <a:buNone/>
            </a:pPr>
            <a:r>
              <a:rPr lang="en-US" sz="1531" kern="0" spc="-46" dirty="0">
                <a:solidFill>
                  <a:srgbClr val="2B2E3C"/>
                </a:solidFill>
                <a:latin typeface="Bitter" pitchFamily="34" charset="0"/>
                <a:ea typeface="Bitter" pitchFamily="34" charset="-122"/>
                <a:cs typeface="Bitter" pitchFamily="34" charset="-120"/>
              </a:rPr>
              <a:t>Advanced Design Solutions</a:t>
            </a:r>
            <a:endParaRPr lang="en-US" sz="1531" dirty="0"/>
          </a:p>
        </p:txBody>
      </p:sp>
      <p:sp>
        <p:nvSpPr>
          <p:cNvPr id="13" name="Text 11"/>
          <p:cNvSpPr/>
          <p:nvPr/>
        </p:nvSpPr>
        <p:spPr>
          <a:xfrm>
            <a:off x="7898368" y="2470428"/>
            <a:ext cx="3110865" cy="1243608"/>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Access to a rich library of design models and professional designers as per their GEO. Customers can also choose from a variety of execution partners to find the best fit for their project, with GRIHAMM's disclaimer.</a:t>
            </a:r>
            <a:endParaRPr lang="en-US" sz="1225" dirty="0"/>
          </a:p>
        </p:txBody>
      </p:sp>
      <p:sp>
        <p:nvSpPr>
          <p:cNvPr id="14" name="Shape 12"/>
          <p:cNvSpPr/>
          <p:nvPr/>
        </p:nvSpPr>
        <p:spPr>
          <a:xfrm>
            <a:off x="3621167" y="3990975"/>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15" name="Text 13"/>
          <p:cNvSpPr/>
          <p:nvPr/>
        </p:nvSpPr>
        <p:spPr>
          <a:xfrm>
            <a:off x="3729038" y="4020026"/>
            <a:ext cx="13406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3</a:t>
            </a:r>
            <a:endParaRPr lang="en-US" sz="1837" dirty="0"/>
          </a:p>
        </p:txBody>
      </p:sp>
      <p:sp>
        <p:nvSpPr>
          <p:cNvPr id="16" name="Text 14"/>
          <p:cNvSpPr/>
          <p:nvPr/>
        </p:nvSpPr>
        <p:spPr>
          <a:xfrm>
            <a:off x="4126587" y="4044434"/>
            <a:ext cx="2167176" cy="243007"/>
          </a:xfrm>
          <a:prstGeom prst="rect">
            <a:avLst/>
          </a:prstGeom>
          <a:noFill/>
          <a:ln/>
        </p:spPr>
        <p:txBody>
          <a:bodyPr wrap="none" rtlCol="0" anchor="t"/>
          <a:lstStyle/>
          <a:p>
            <a:pPr marL="0" indent="0">
              <a:lnSpc>
                <a:spcPts val="1914"/>
              </a:lnSpc>
              <a:buNone/>
            </a:pPr>
            <a:r>
              <a:rPr lang="en-US" sz="1531" kern="0" spc="-46" dirty="0">
                <a:solidFill>
                  <a:srgbClr val="2B2E3C"/>
                </a:solidFill>
                <a:latin typeface="Bitter" pitchFamily="34" charset="0"/>
                <a:ea typeface="Bitter" pitchFamily="34" charset="-122"/>
                <a:cs typeface="Bitter" pitchFamily="34" charset="-120"/>
              </a:rPr>
              <a:t>User-Friendly Phone App</a:t>
            </a:r>
            <a:endParaRPr lang="en-US" sz="1531" dirty="0"/>
          </a:p>
        </p:txBody>
      </p:sp>
      <p:sp>
        <p:nvSpPr>
          <p:cNvPr id="17" name="Text 15"/>
          <p:cNvSpPr/>
          <p:nvPr/>
        </p:nvSpPr>
        <p:spPr>
          <a:xfrm>
            <a:off x="4126587" y="4442936"/>
            <a:ext cx="3110865" cy="1243608"/>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Easy-to-use app for selecting designs, choosing execution partners in nearby locations or as per requirement, and tracking progress. Customers can see the amount utilized per phase or work and a running cost.</a:t>
            </a:r>
            <a:endParaRPr lang="en-US" sz="1225" dirty="0"/>
          </a:p>
        </p:txBody>
      </p:sp>
      <p:sp>
        <p:nvSpPr>
          <p:cNvPr id="18" name="Shape 16"/>
          <p:cNvSpPr/>
          <p:nvPr/>
        </p:nvSpPr>
        <p:spPr>
          <a:xfrm>
            <a:off x="7392948" y="3990975"/>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19" name="Text 17"/>
          <p:cNvSpPr/>
          <p:nvPr/>
        </p:nvSpPr>
        <p:spPr>
          <a:xfrm>
            <a:off x="7500818" y="4020026"/>
            <a:ext cx="13406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4</a:t>
            </a:r>
            <a:endParaRPr lang="en-US" sz="1837" dirty="0"/>
          </a:p>
        </p:txBody>
      </p:sp>
      <p:sp>
        <p:nvSpPr>
          <p:cNvPr id="20" name="Text 18"/>
          <p:cNvSpPr/>
          <p:nvPr/>
        </p:nvSpPr>
        <p:spPr>
          <a:xfrm>
            <a:off x="7898368" y="4044434"/>
            <a:ext cx="2161342" cy="243007"/>
          </a:xfrm>
          <a:prstGeom prst="rect">
            <a:avLst/>
          </a:prstGeom>
          <a:noFill/>
          <a:ln/>
        </p:spPr>
        <p:txBody>
          <a:bodyPr wrap="none" rtlCol="0" anchor="t"/>
          <a:lstStyle/>
          <a:p>
            <a:pPr marL="0" indent="0">
              <a:lnSpc>
                <a:spcPts val="1914"/>
              </a:lnSpc>
              <a:buNone/>
            </a:pPr>
            <a:r>
              <a:rPr lang="en-US" sz="1531" kern="0" spc="-46" dirty="0">
                <a:solidFill>
                  <a:srgbClr val="2B2E3C"/>
                </a:solidFill>
                <a:latin typeface="Bitter" pitchFamily="34" charset="0"/>
                <a:ea typeface="Bitter" pitchFamily="34" charset="-122"/>
                <a:cs typeface="Bitter" pitchFamily="34" charset="-120"/>
              </a:rPr>
              <a:t>Flexible Payment Options</a:t>
            </a:r>
            <a:endParaRPr lang="en-US" sz="1531" dirty="0"/>
          </a:p>
        </p:txBody>
      </p:sp>
      <p:sp>
        <p:nvSpPr>
          <p:cNvPr id="21" name="Text 19"/>
          <p:cNvSpPr/>
          <p:nvPr/>
        </p:nvSpPr>
        <p:spPr>
          <a:xfrm>
            <a:off x="7898368" y="4442936"/>
            <a:ext cx="3110865" cy="1243608"/>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GRIHAMM offers a variety of payment options to customers, including installment plans, credit card payments, and more, making it easy to choose a plan that works for their budget.</a:t>
            </a:r>
            <a:endParaRPr lang="en-US" sz="1225" dirty="0"/>
          </a:p>
        </p:txBody>
      </p:sp>
      <p:sp>
        <p:nvSpPr>
          <p:cNvPr id="22" name="Shape 20"/>
          <p:cNvSpPr/>
          <p:nvPr/>
        </p:nvSpPr>
        <p:spPr>
          <a:xfrm>
            <a:off x="3621167" y="5963483"/>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23" name="Text 21"/>
          <p:cNvSpPr/>
          <p:nvPr/>
        </p:nvSpPr>
        <p:spPr>
          <a:xfrm>
            <a:off x="3736657" y="5992535"/>
            <a:ext cx="11882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5</a:t>
            </a:r>
            <a:endParaRPr lang="en-US" sz="1837" dirty="0"/>
          </a:p>
        </p:txBody>
      </p:sp>
      <p:sp>
        <p:nvSpPr>
          <p:cNvPr id="24" name="Text 22"/>
          <p:cNvSpPr/>
          <p:nvPr/>
        </p:nvSpPr>
        <p:spPr>
          <a:xfrm>
            <a:off x="4126587" y="6016943"/>
            <a:ext cx="3110865" cy="486013"/>
          </a:xfrm>
          <a:prstGeom prst="rect">
            <a:avLst/>
          </a:prstGeom>
          <a:noFill/>
          <a:ln/>
        </p:spPr>
        <p:txBody>
          <a:bodyPr wrap="square" rtlCol="0" anchor="t"/>
          <a:lstStyle/>
          <a:p>
            <a:pPr marL="0" indent="0">
              <a:lnSpc>
                <a:spcPts val="1914"/>
              </a:lnSpc>
              <a:buNone/>
            </a:pPr>
            <a:r>
              <a:rPr lang="en-US" sz="1531" kern="0" spc="-46" dirty="0">
                <a:solidFill>
                  <a:srgbClr val="2B2E3C"/>
                </a:solidFill>
                <a:latin typeface="Bitter" pitchFamily="34" charset="0"/>
                <a:ea typeface="Bitter" pitchFamily="34" charset="-122"/>
                <a:cs typeface="Bitter" pitchFamily="34" charset="-120"/>
              </a:rPr>
              <a:t>Loan Options for Home Improvement</a:t>
            </a:r>
            <a:endParaRPr lang="en-US" sz="1531" dirty="0"/>
          </a:p>
        </p:txBody>
      </p:sp>
      <p:sp>
        <p:nvSpPr>
          <p:cNvPr id="25" name="Text 23"/>
          <p:cNvSpPr/>
          <p:nvPr/>
        </p:nvSpPr>
        <p:spPr>
          <a:xfrm>
            <a:off x="4126587" y="6658451"/>
            <a:ext cx="3110865" cy="1492329"/>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GRIHAMM's platform provides customers with access to loan options for home improvement projects directly through the app. This allows customers to easily finance their projects without needing to leave the platform or search for financing elsewhere.</a:t>
            </a:r>
            <a:endParaRPr lang="en-US" sz="1225" dirty="0"/>
          </a:p>
        </p:txBody>
      </p:sp>
      <p:sp>
        <p:nvSpPr>
          <p:cNvPr id="26" name="Shape 24"/>
          <p:cNvSpPr/>
          <p:nvPr/>
        </p:nvSpPr>
        <p:spPr>
          <a:xfrm>
            <a:off x="7392948" y="5963483"/>
            <a:ext cx="349925" cy="349925"/>
          </a:xfrm>
          <a:prstGeom prst="roundRect">
            <a:avLst>
              <a:gd name="adj" fmla="val 20002"/>
            </a:avLst>
          </a:prstGeom>
          <a:solidFill>
            <a:srgbClr val="FCE2CF"/>
          </a:solidFill>
          <a:ln w="9644">
            <a:solidFill>
              <a:srgbClr val="F9C59F"/>
            </a:solidFill>
            <a:prstDash val="solid"/>
          </a:ln>
        </p:spPr>
        <p:txBody>
          <a:bodyPr/>
          <a:lstStyle/>
          <a:p>
            <a:endParaRPr lang="en-IN"/>
          </a:p>
        </p:txBody>
      </p:sp>
      <p:sp>
        <p:nvSpPr>
          <p:cNvPr id="27" name="Text 25"/>
          <p:cNvSpPr/>
          <p:nvPr/>
        </p:nvSpPr>
        <p:spPr>
          <a:xfrm>
            <a:off x="7500818" y="5992535"/>
            <a:ext cx="134064" cy="291703"/>
          </a:xfrm>
          <a:prstGeom prst="rect">
            <a:avLst/>
          </a:prstGeom>
          <a:noFill/>
          <a:ln/>
        </p:spPr>
        <p:txBody>
          <a:bodyPr wrap="none" rtlCol="0" anchor="t"/>
          <a:lstStyle/>
          <a:p>
            <a:pPr marL="0" indent="0" algn="ctr">
              <a:lnSpc>
                <a:spcPts val="2296"/>
              </a:lnSpc>
              <a:buNone/>
            </a:pPr>
            <a:r>
              <a:rPr lang="en-US" sz="1837" kern="0" spc="-24" dirty="0">
                <a:solidFill>
                  <a:srgbClr val="2B2E3C"/>
                </a:solidFill>
                <a:latin typeface="Bitter" pitchFamily="34" charset="0"/>
                <a:ea typeface="Bitter" pitchFamily="34" charset="-122"/>
                <a:cs typeface="Bitter" pitchFamily="34" charset="-120"/>
              </a:rPr>
              <a:t>6</a:t>
            </a:r>
            <a:endParaRPr lang="en-US" sz="1837" dirty="0"/>
          </a:p>
        </p:txBody>
      </p:sp>
      <p:sp>
        <p:nvSpPr>
          <p:cNvPr id="28" name="Text 26"/>
          <p:cNvSpPr/>
          <p:nvPr/>
        </p:nvSpPr>
        <p:spPr>
          <a:xfrm>
            <a:off x="7898368" y="6016943"/>
            <a:ext cx="3110865" cy="486013"/>
          </a:xfrm>
          <a:prstGeom prst="rect">
            <a:avLst/>
          </a:prstGeom>
          <a:noFill/>
          <a:ln/>
        </p:spPr>
        <p:txBody>
          <a:bodyPr wrap="square" rtlCol="0" anchor="t"/>
          <a:lstStyle/>
          <a:p>
            <a:pPr marL="0" indent="0">
              <a:lnSpc>
                <a:spcPts val="1914"/>
              </a:lnSpc>
              <a:buNone/>
            </a:pPr>
            <a:r>
              <a:rPr lang="en-US" sz="1531" kern="0" spc="-46" dirty="0">
                <a:solidFill>
                  <a:srgbClr val="2B2E3C"/>
                </a:solidFill>
                <a:latin typeface="Bitter" pitchFamily="34" charset="0"/>
                <a:ea typeface="Bitter" pitchFamily="34" charset="-122"/>
                <a:cs typeface="Bitter" pitchFamily="34" charset="-120"/>
              </a:rPr>
              <a:t>Convenience, Variety, and Choice of Interior and Execution Partners</a:t>
            </a:r>
            <a:endParaRPr lang="en-US" sz="1531" dirty="0"/>
          </a:p>
        </p:txBody>
      </p:sp>
      <p:sp>
        <p:nvSpPr>
          <p:cNvPr id="29" name="Text 27"/>
          <p:cNvSpPr/>
          <p:nvPr/>
        </p:nvSpPr>
        <p:spPr>
          <a:xfrm>
            <a:off x="7898368" y="6658451"/>
            <a:ext cx="3110865" cy="1741051"/>
          </a:xfrm>
          <a:prstGeom prst="rect">
            <a:avLst/>
          </a:prstGeom>
          <a:noFill/>
          <a:ln/>
        </p:spPr>
        <p:txBody>
          <a:bodyPr wrap="square" rtlCol="0" anchor="t"/>
          <a:lstStyle/>
          <a:p>
            <a:pPr marL="0" indent="0">
              <a:lnSpc>
                <a:spcPts val="1960"/>
              </a:lnSpc>
              <a:buNone/>
            </a:pPr>
            <a:r>
              <a:rPr lang="en-US" sz="1225" kern="0" spc="-24" dirty="0">
                <a:solidFill>
                  <a:srgbClr val="2B2E3C"/>
                </a:solidFill>
                <a:latin typeface="Open Sans" pitchFamily="34" charset="0"/>
                <a:ea typeface="Open Sans" pitchFamily="34" charset="-122"/>
                <a:cs typeface="Open Sans" pitchFamily="34" charset="-120"/>
              </a:rPr>
              <a:t>Customers have the convenience and variety of choosing from a wide selection of interior and execution partners to find the best fit for their project, with GRIHAMM's disclaimer. This means customers have more choice and control over their project, with access to top-quality service providers and designers.</a:t>
            </a:r>
            <a:endParaRPr lang="en-US" sz="12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29600"/>
          </a:xfrm>
          <a:prstGeom prst="rect">
            <a:avLst/>
          </a:prstGeom>
          <a:solidFill>
            <a:srgbClr val="FFF8F0"/>
          </a:solidFill>
          <a:ln w="11549">
            <a:solidFill>
              <a:srgbClr val="E5E0DF"/>
            </a:solidFill>
            <a:prstDash val="solid"/>
          </a:ln>
        </p:spPr>
        <p:txBody>
          <a:bodyPr/>
          <a:lstStyle/>
          <a:p>
            <a:endParaRPr lang="en-IN"/>
          </a:p>
        </p:txBody>
      </p:sp>
      <p:sp>
        <p:nvSpPr>
          <p:cNvPr id="4" name="Text 2"/>
          <p:cNvSpPr/>
          <p:nvPr/>
        </p:nvSpPr>
        <p:spPr>
          <a:xfrm>
            <a:off x="2886789" y="656987"/>
            <a:ext cx="8577024" cy="582573"/>
          </a:xfrm>
          <a:prstGeom prst="rect">
            <a:avLst/>
          </a:prstGeom>
          <a:noFill/>
          <a:ln/>
        </p:spPr>
        <p:txBody>
          <a:bodyPr wrap="none" rtlCol="0" anchor="t"/>
          <a:lstStyle/>
          <a:p>
            <a:pPr marL="0" indent="0">
              <a:lnSpc>
                <a:spcPts val="4588"/>
              </a:lnSpc>
              <a:buNone/>
            </a:pPr>
            <a:r>
              <a:rPr lang="en-US" sz="3670" kern="0" spc="-110" dirty="0">
                <a:solidFill>
                  <a:srgbClr val="2C3F42"/>
                </a:solidFill>
                <a:latin typeface="Bitter" pitchFamily="34" charset="0"/>
                <a:ea typeface="Bitter" pitchFamily="34" charset="-122"/>
                <a:cs typeface="Bitter" pitchFamily="34" charset="-120"/>
              </a:rPr>
              <a:t>Advantages for Designers and Contractors</a:t>
            </a:r>
            <a:endParaRPr lang="en-US" sz="3670" dirty="0"/>
          </a:p>
        </p:txBody>
      </p:sp>
      <p:sp>
        <p:nvSpPr>
          <p:cNvPr id="5" name="Text 3"/>
          <p:cNvSpPr/>
          <p:nvPr/>
        </p:nvSpPr>
        <p:spPr>
          <a:xfrm>
            <a:off x="2886789" y="1612463"/>
            <a:ext cx="8856821" cy="596503"/>
          </a:xfrm>
          <a:prstGeom prst="rect">
            <a:avLst/>
          </a:prstGeom>
          <a:noFill/>
          <a:ln/>
        </p:spPr>
        <p:txBody>
          <a:bodyPr wrap="square" rtlCol="0" anchor="t"/>
          <a:lstStyle/>
          <a:p>
            <a:pPr marL="0" indent="0">
              <a:lnSpc>
                <a:spcPts val="2349"/>
              </a:lnSpc>
              <a:buNone/>
            </a:pPr>
            <a:r>
              <a:rPr lang="en-US" sz="1468" kern="0" spc="-29" dirty="0">
                <a:solidFill>
                  <a:srgbClr val="2B2E3C"/>
                </a:solidFill>
                <a:latin typeface="Open Sans" pitchFamily="34" charset="0"/>
                <a:ea typeface="Open Sans" pitchFamily="34" charset="-122"/>
                <a:cs typeface="Open Sans" pitchFamily="34" charset="-120"/>
              </a:rPr>
              <a:t>GRIHAMM's platform also offers advantages for other big designers and contractors, making it easier for them to generate regular income and find new clients.</a:t>
            </a:r>
            <a:endParaRPr lang="en-US" sz="1468" dirty="0"/>
          </a:p>
        </p:txBody>
      </p:sp>
      <p:sp>
        <p:nvSpPr>
          <p:cNvPr id="6" name="Shape 4"/>
          <p:cNvSpPr/>
          <p:nvPr/>
        </p:nvSpPr>
        <p:spPr>
          <a:xfrm>
            <a:off x="2886789" y="2418636"/>
            <a:ext cx="8856821" cy="5153978"/>
          </a:xfrm>
          <a:prstGeom prst="roundRect">
            <a:avLst>
              <a:gd name="adj" fmla="val 1628"/>
            </a:avLst>
          </a:prstGeom>
          <a:noFill/>
          <a:ln w="11549">
            <a:solidFill>
              <a:srgbClr val="000000">
                <a:alpha val="8000"/>
              </a:srgbClr>
            </a:solidFill>
            <a:prstDash val="solid"/>
          </a:ln>
        </p:spPr>
        <p:txBody>
          <a:bodyPr/>
          <a:lstStyle/>
          <a:p>
            <a:endParaRPr lang="en-IN"/>
          </a:p>
        </p:txBody>
      </p:sp>
      <p:sp>
        <p:nvSpPr>
          <p:cNvPr id="7" name="Shape 5"/>
          <p:cNvSpPr/>
          <p:nvPr/>
        </p:nvSpPr>
        <p:spPr>
          <a:xfrm>
            <a:off x="2898338" y="2430185"/>
            <a:ext cx="8833723" cy="835343"/>
          </a:xfrm>
          <a:prstGeom prst="rect">
            <a:avLst/>
          </a:prstGeom>
          <a:solidFill>
            <a:srgbClr val="FFFFFF">
              <a:alpha val="4000"/>
            </a:srgbClr>
          </a:solidFill>
          <a:ln/>
        </p:spPr>
        <p:txBody>
          <a:bodyPr/>
          <a:lstStyle/>
          <a:p>
            <a:endParaRPr lang="en-IN"/>
          </a:p>
        </p:txBody>
      </p:sp>
      <p:sp>
        <p:nvSpPr>
          <p:cNvPr id="8" name="Text 6"/>
          <p:cNvSpPr/>
          <p:nvPr/>
        </p:nvSpPr>
        <p:spPr>
          <a:xfrm>
            <a:off x="3084790" y="2624257"/>
            <a:ext cx="2452211" cy="291346"/>
          </a:xfrm>
          <a:prstGeom prst="rect">
            <a:avLst/>
          </a:prstGeom>
          <a:noFill/>
          <a:ln/>
        </p:spPr>
        <p:txBody>
          <a:bodyPr wrap="none" rtlCol="0" anchor="t"/>
          <a:lstStyle/>
          <a:p>
            <a:pPr marL="0" indent="0">
              <a:lnSpc>
                <a:spcPts val="2294"/>
              </a:lnSpc>
              <a:buNone/>
            </a:pPr>
            <a:r>
              <a:rPr lang="en-US" sz="1835" kern="0" spc="-55" dirty="0">
                <a:solidFill>
                  <a:srgbClr val="2C3F42"/>
                </a:solidFill>
                <a:latin typeface="Bitter" pitchFamily="34" charset="0"/>
                <a:ea typeface="Bitter" pitchFamily="34" charset="-122"/>
                <a:cs typeface="Bitter" pitchFamily="34" charset="-120"/>
              </a:rPr>
              <a:t>Design Lead Generation</a:t>
            </a:r>
            <a:endParaRPr lang="en-US" sz="1835" dirty="0"/>
          </a:p>
        </p:txBody>
      </p:sp>
      <p:sp>
        <p:nvSpPr>
          <p:cNvPr id="9" name="Text 7"/>
          <p:cNvSpPr/>
          <p:nvPr/>
        </p:nvSpPr>
        <p:spPr>
          <a:xfrm>
            <a:off x="7505462" y="2549604"/>
            <a:ext cx="4040148" cy="596503"/>
          </a:xfrm>
          <a:prstGeom prst="rect">
            <a:avLst/>
          </a:prstGeom>
          <a:noFill/>
          <a:ln/>
        </p:spPr>
        <p:txBody>
          <a:bodyPr wrap="square" rtlCol="0" anchor="t"/>
          <a:lstStyle/>
          <a:p>
            <a:pPr marL="0" indent="0">
              <a:lnSpc>
                <a:spcPts val="2349"/>
              </a:lnSpc>
              <a:buNone/>
            </a:pPr>
            <a:r>
              <a:rPr lang="en-US" sz="1468" kern="0" spc="-29" dirty="0">
                <a:solidFill>
                  <a:srgbClr val="2B2E3C"/>
                </a:solidFill>
                <a:latin typeface="Open Sans" pitchFamily="34" charset="0"/>
                <a:ea typeface="Open Sans" pitchFamily="34" charset="-122"/>
                <a:cs typeface="Open Sans" pitchFamily="34" charset="-120"/>
              </a:rPr>
              <a:t>Regular income for designers and contractors via online or physical design leads.</a:t>
            </a:r>
            <a:endParaRPr lang="en-US" sz="1468" dirty="0"/>
          </a:p>
        </p:txBody>
      </p:sp>
      <p:sp>
        <p:nvSpPr>
          <p:cNvPr id="10" name="Shape 8"/>
          <p:cNvSpPr/>
          <p:nvPr/>
        </p:nvSpPr>
        <p:spPr>
          <a:xfrm>
            <a:off x="2898338" y="3265527"/>
            <a:ext cx="8833723" cy="1730097"/>
          </a:xfrm>
          <a:prstGeom prst="rect">
            <a:avLst/>
          </a:prstGeom>
          <a:solidFill>
            <a:srgbClr val="000000">
              <a:alpha val="4000"/>
            </a:srgbClr>
          </a:solidFill>
          <a:ln/>
        </p:spPr>
        <p:txBody>
          <a:bodyPr/>
          <a:lstStyle/>
          <a:p>
            <a:endParaRPr lang="en-IN"/>
          </a:p>
        </p:txBody>
      </p:sp>
      <p:sp>
        <p:nvSpPr>
          <p:cNvPr id="11" name="Text 9"/>
          <p:cNvSpPr/>
          <p:nvPr/>
        </p:nvSpPr>
        <p:spPr>
          <a:xfrm>
            <a:off x="3084790" y="3459599"/>
            <a:ext cx="3219926" cy="291346"/>
          </a:xfrm>
          <a:prstGeom prst="rect">
            <a:avLst/>
          </a:prstGeom>
          <a:noFill/>
          <a:ln/>
        </p:spPr>
        <p:txBody>
          <a:bodyPr wrap="none" rtlCol="0" anchor="t"/>
          <a:lstStyle/>
          <a:p>
            <a:pPr marL="0" indent="0">
              <a:lnSpc>
                <a:spcPts val="2294"/>
              </a:lnSpc>
              <a:buNone/>
            </a:pPr>
            <a:r>
              <a:rPr lang="en-US" sz="1835" kern="0" spc="-55" dirty="0">
                <a:solidFill>
                  <a:srgbClr val="2C3F42"/>
                </a:solidFill>
                <a:latin typeface="Bitter" pitchFamily="34" charset="0"/>
                <a:ea typeface="Bitter" pitchFamily="34" charset="-122"/>
                <a:cs typeface="Bitter" pitchFamily="34" charset="-120"/>
              </a:rPr>
              <a:t>Training booths for Contractors</a:t>
            </a:r>
            <a:endParaRPr lang="en-US" sz="1835" dirty="0"/>
          </a:p>
        </p:txBody>
      </p:sp>
      <p:sp>
        <p:nvSpPr>
          <p:cNvPr id="12" name="Text 10"/>
          <p:cNvSpPr/>
          <p:nvPr/>
        </p:nvSpPr>
        <p:spPr>
          <a:xfrm>
            <a:off x="7505462" y="3384947"/>
            <a:ext cx="4040148" cy="1491258"/>
          </a:xfrm>
          <a:prstGeom prst="rect">
            <a:avLst/>
          </a:prstGeom>
          <a:noFill/>
          <a:ln/>
        </p:spPr>
        <p:txBody>
          <a:bodyPr wrap="square" rtlCol="0" anchor="t"/>
          <a:lstStyle/>
          <a:p>
            <a:pPr marL="0" indent="0">
              <a:lnSpc>
                <a:spcPts val="2349"/>
              </a:lnSpc>
              <a:buNone/>
            </a:pPr>
            <a:r>
              <a:rPr lang="en-US" sz="1468" kern="0" spc="-29" dirty="0">
                <a:solidFill>
                  <a:srgbClr val="2B2E3C"/>
                </a:solidFill>
                <a:latin typeface="Open Sans" pitchFamily="34" charset="0"/>
                <a:ea typeface="Open Sans" pitchFamily="34" charset="-122"/>
                <a:cs typeface="Open Sans" pitchFamily="34" charset="-120"/>
              </a:rPr>
              <a:t>Get access to our training booths, where you can learn about all the latest design styles, new hardware, and trending designs across India. Stay ahead of the competition and impress your clients with your knowledge and skills. </a:t>
            </a:r>
            <a:endParaRPr lang="en-US" sz="1468" dirty="0"/>
          </a:p>
        </p:txBody>
      </p:sp>
      <p:sp>
        <p:nvSpPr>
          <p:cNvPr id="13" name="Shape 11"/>
          <p:cNvSpPr/>
          <p:nvPr/>
        </p:nvSpPr>
        <p:spPr>
          <a:xfrm>
            <a:off x="2898338" y="4995624"/>
            <a:ext cx="8833723" cy="1133594"/>
          </a:xfrm>
          <a:prstGeom prst="rect">
            <a:avLst/>
          </a:prstGeom>
          <a:solidFill>
            <a:srgbClr val="FFFFFF">
              <a:alpha val="4000"/>
            </a:srgbClr>
          </a:solidFill>
          <a:ln/>
        </p:spPr>
        <p:txBody>
          <a:bodyPr/>
          <a:lstStyle/>
          <a:p>
            <a:endParaRPr lang="en-IN"/>
          </a:p>
        </p:txBody>
      </p:sp>
      <p:sp>
        <p:nvSpPr>
          <p:cNvPr id="14" name="Text 12"/>
          <p:cNvSpPr/>
          <p:nvPr/>
        </p:nvSpPr>
        <p:spPr>
          <a:xfrm>
            <a:off x="3084790" y="5189696"/>
            <a:ext cx="3194566" cy="291346"/>
          </a:xfrm>
          <a:prstGeom prst="rect">
            <a:avLst/>
          </a:prstGeom>
          <a:noFill/>
          <a:ln/>
        </p:spPr>
        <p:txBody>
          <a:bodyPr wrap="none" rtlCol="0" anchor="t"/>
          <a:lstStyle/>
          <a:p>
            <a:pPr marL="0" indent="0">
              <a:lnSpc>
                <a:spcPts val="2294"/>
              </a:lnSpc>
              <a:buNone/>
            </a:pPr>
            <a:r>
              <a:rPr lang="en-US" sz="1835" kern="0" spc="-55" dirty="0">
                <a:solidFill>
                  <a:srgbClr val="2C3F42"/>
                </a:solidFill>
                <a:latin typeface="Bitter" pitchFamily="34" charset="0"/>
                <a:ea typeface="Bitter" pitchFamily="34" charset="-122"/>
                <a:cs typeface="Bitter" pitchFamily="34" charset="-120"/>
              </a:rPr>
              <a:t>Design Execution Management</a:t>
            </a:r>
            <a:endParaRPr lang="en-US" sz="1835" dirty="0"/>
          </a:p>
        </p:txBody>
      </p:sp>
      <p:sp>
        <p:nvSpPr>
          <p:cNvPr id="15" name="Text 13"/>
          <p:cNvSpPr/>
          <p:nvPr/>
        </p:nvSpPr>
        <p:spPr>
          <a:xfrm>
            <a:off x="7505462" y="5115044"/>
            <a:ext cx="4040148" cy="894755"/>
          </a:xfrm>
          <a:prstGeom prst="rect">
            <a:avLst/>
          </a:prstGeom>
          <a:noFill/>
          <a:ln/>
        </p:spPr>
        <p:txBody>
          <a:bodyPr wrap="square" rtlCol="0" anchor="t"/>
          <a:lstStyle/>
          <a:p>
            <a:pPr marL="0" indent="0">
              <a:lnSpc>
                <a:spcPts val="2349"/>
              </a:lnSpc>
              <a:buNone/>
            </a:pPr>
            <a:r>
              <a:rPr lang="en-US" sz="1468" kern="0" spc="-29" dirty="0">
                <a:solidFill>
                  <a:srgbClr val="2B2E3C"/>
                </a:solidFill>
                <a:latin typeface="Open Sans" pitchFamily="34" charset="0"/>
                <a:ea typeface="Open Sans" pitchFamily="34" charset="-122"/>
                <a:cs typeface="Open Sans" pitchFamily="34" charset="-120"/>
              </a:rPr>
              <a:t>Simple and straightforward design execution management based on milestone payments from wallet of customers.</a:t>
            </a:r>
            <a:endParaRPr lang="en-US" sz="1468" dirty="0"/>
          </a:p>
        </p:txBody>
      </p:sp>
      <p:sp>
        <p:nvSpPr>
          <p:cNvPr id="16" name="Shape 14"/>
          <p:cNvSpPr/>
          <p:nvPr/>
        </p:nvSpPr>
        <p:spPr>
          <a:xfrm>
            <a:off x="2898338" y="6129218"/>
            <a:ext cx="8833723" cy="1431846"/>
          </a:xfrm>
          <a:prstGeom prst="rect">
            <a:avLst/>
          </a:prstGeom>
          <a:solidFill>
            <a:srgbClr val="000000">
              <a:alpha val="4000"/>
            </a:srgbClr>
          </a:solidFill>
          <a:ln/>
        </p:spPr>
        <p:txBody>
          <a:bodyPr/>
          <a:lstStyle/>
          <a:p>
            <a:endParaRPr lang="en-IN"/>
          </a:p>
        </p:txBody>
      </p:sp>
      <p:sp>
        <p:nvSpPr>
          <p:cNvPr id="17" name="Text 15"/>
          <p:cNvSpPr/>
          <p:nvPr/>
        </p:nvSpPr>
        <p:spPr>
          <a:xfrm>
            <a:off x="3084790" y="6323290"/>
            <a:ext cx="3533537" cy="291346"/>
          </a:xfrm>
          <a:prstGeom prst="rect">
            <a:avLst/>
          </a:prstGeom>
          <a:noFill/>
          <a:ln/>
        </p:spPr>
        <p:txBody>
          <a:bodyPr wrap="none" rtlCol="0" anchor="t"/>
          <a:lstStyle/>
          <a:p>
            <a:pPr marL="0" indent="0">
              <a:lnSpc>
                <a:spcPts val="2294"/>
              </a:lnSpc>
              <a:buNone/>
            </a:pPr>
            <a:r>
              <a:rPr lang="en-US" sz="1835" kern="0" spc="-55" dirty="0">
                <a:solidFill>
                  <a:srgbClr val="2C3F42"/>
                </a:solidFill>
                <a:latin typeface="Bitter" pitchFamily="34" charset="0"/>
                <a:ea typeface="Bitter" pitchFamily="34" charset="-122"/>
                <a:cs typeface="Bitter" pitchFamily="34" charset="-120"/>
              </a:rPr>
              <a:t>Regular Training on Budget Design</a:t>
            </a:r>
            <a:endParaRPr lang="en-US" sz="1835" dirty="0"/>
          </a:p>
        </p:txBody>
      </p:sp>
      <p:sp>
        <p:nvSpPr>
          <p:cNvPr id="18" name="Text 16"/>
          <p:cNvSpPr/>
          <p:nvPr/>
        </p:nvSpPr>
        <p:spPr>
          <a:xfrm>
            <a:off x="7505462" y="6248638"/>
            <a:ext cx="4040148" cy="1193006"/>
          </a:xfrm>
          <a:prstGeom prst="rect">
            <a:avLst/>
          </a:prstGeom>
          <a:noFill/>
          <a:ln/>
        </p:spPr>
        <p:txBody>
          <a:bodyPr wrap="square" rtlCol="0" anchor="t"/>
          <a:lstStyle/>
          <a:p>
            <a:pPr marL="0" indent="0">
              <a:lnSpc>
                <a:spcPts val="2349"/>
              </a:lnSpc>
              <a:buNone/>
            </a:pPr>
            <a:r>
              <a:rPr lang="en-US" sz="1468" kern="0" spc="-29" dirty="0">
                <a:solidFill>
                  <a:srgbClr val="2B2E3C"/>
                </a:solidFill>
                <a:latin typeface="Open Sans" pitchFamily="34" charset="0"/>
                <a:ea typeface="Open Sans" pitchFamily="34" charset="-122"/>
                <a:cs typeface="Open Sans" pitchFamily="34" charset="-120"/>
              </a:rPr>
              <a:t>Stay on top of your game with our regular training programs on how to design within budget, so that you can provide the best value to your clients while staying profitable. Sign up now!</a:t>
            </a:r>
            <a:endParaRPr lang="en-US" sz="1468"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29600"/>
          </a:xfrm>
          <a:prstGeom prst="rect">
            <a:avLst/>
          </a:prstGeom>
          <a:solidFill>
            <a:srgbClr val="FFF8F0"/>
          </a:solidFill>
          <a:ln w="13811">
            <a:solidFill>
              <a:srgbClr val="E5E0DF"/>
            </a:solidFill>
            <a:prstDash val="solid"/>
          </a:ln>
        </p:spPr>
        <p:txBody>
          <a:bodyPr/>
          <a:lstStyle/>
          <a:p>
            <a:endParaRPr lang="en-IN"/>
          </a:p>
        </p:txBody>
      </p:sp>
      <p:sp>
        <p:nvSpPr>
          <p:cNvPr id="4" name="Text 2"/>
          <p:cNvSpPr/>
          <p:nvPr/>
        </p:nvSpPr>
        <p:spPr>
          <a:xfrm>
            <a:off x="2037993" y="1132523"/>
            <a:ext cx="10554414" cy="1110853"/>
          </a:xfrm>
          <a:prstGeom prst="rect">
            <a:avLst/>
          </a:prstGeom>
          <a:noFill/>
          <a:ln/>
        </p:spPr>
        <p:txBody>
          <a:bodyPr wrap="square" rtlCol="0" anchor="t"/>
          <a:lstStyle/>
          <a:p>
            <a:pPr marL="0" indent="0">
              <a:lnSpc>
                <a:spcPts val="4374"/>
              </a:lnSpc>
              <a:buNone/>
            </a:pPr>
            <a:r>
              <a:rPr lang="en-US" sz="3499" kern="0" spc="-105" dirty="0">
                <a:solidFill>
                  <a:srgbClr val="2C3F42"/>
                </a:solidFill>
                <a:latin typeface="Bitter" pitchFamily="34" charset="0"/>
                <a:ea typeface="Bitter" pitchFamily="34" charset="-122"/>
                <a:cs typeface="Bitter" pitchFamily="34" charset="-120"/>
              </a:rPr>
              <a:t>Freshers and Interns can Gain a Competitive Edge with Grihamm's Training Programs</a:t>
            </a:r>
            <a:endParaRPr lang="en-US" sz="3499" dirty="0"/>
          </a:p>
        </p:txBody>
      </p:sp>
      <p:sp>
        <p:nvSpPr>
          <p:cNvPr id="5" name="Text 3"/>
          <p:cNvSpPr/>
          <p:nvPr/>
        </p:nvSpPr>
        <p:spPr>
          <a:xfrm>
            <a:off x="2037993" y="2687717"/>
            <a:ext cx="10554414" cy="1421606"/>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Prepare for real industry challenges with our comprehensive training programs, available to book at all interior colleges. Our programs not only provide valuable experience, but also facilitate internships for hands-on execution. After completing our programs, we certify interns to be fit for hiring by other companies. Don't miss out on this opportunity to gain a unique advantage in the job market!</a:t>
            </a:r>
            <a:endParaRPr lang="en-US" sz="1750" dirty="0"/>
          </a:p>
        </p:txBody>
      </p:sp>
      <p:sp>
        <p:nvSpPr>
          <p:cNvPr id="6" name="Text 4"/>
          <p:cNvSpPr/>
          <p:nvPr/>
        </p:nvSpPr>
        <p:spPr>
          <a:xfrm>
            <a:off x="2037993" y="4359235"/>
            <a:ext cx="10554414" cy="355402"/>
          </a:xfrm>
          <a:prstGeom prst="rect">
            <a:avLst/>
          </a:prstGeom>
          <a:noFill/>
          <a:ln/>
        </p:spPr>
        <p:txBody>
          <a:bodyPr wrap="none" rtlCol="0" anchor="t"/>
          <a:lstStyle/>
          <a:p>
            <a:pPr marL="0" indent="0">
              <a:lnSpc>
                <a:spcPts val="2799"/>
              </a:lnSpc>
              <a:buNone/>
            </a:pPr>
            <a:endParaRPr lang="en-US" sz="1750" dirty="0"/>
          </a:p>
        </p:txBody>
      </p:sp>
      <p:sp>
        <p:nvSpPr>
          <p:cNvPr id="7" name="Text 5"/>
          <p:cNvSpPr/>
          <p:nvPr/>
        </p:nvSpPr>
        <p:spPr>
          <a:xfrm>
            <a:off x="2037993" y="4964549"/>
            <a:ext cx="10554414" cy="2132409"/>
          </a:xfrm>
          <a:prstGeom prst="rect">
            <a:avLst/>
          </a:prstGeom>
          <a:noFill/>
          <a:ln/>
        </p:spPr>
        <p:txBody>
          <a:bodyPr wrap="square" rtlCol="0" anchor="t"/>
          <a:lstStyle/>
          <a:p>
            <a:pPr marL="0" indent="0">
              <a:lnSpc>
                <a:spcPts val="2799"/>
              </a:lnSpc>
              <a:buNone/>
            </a:pPr>
            <a:r>
              <a:rPr lang="en-US" sz="1750" b="1" kern="0" spc="-35" dirty="0">
                <a:solidFill>
                  <a:srgbClr val="2B2E3C"/>
                </a:solidFill>
                <a:latin typeface="Open Sans" pitchFamily="34" charset="0"/>
                <a:ea typeface="Open Sans" pitchFamily="34" charset="-122"/>
                <a:cs typeface="Open Sans" pitchFamily="34" charset="-120"/>
              </a:rPr>
              <a:t>Grihamm's training programs can give college students a unique advantage in the job market. Grihamm will offer comprehensive training programs that prepare students for real industry challenges. Our programs are available to book at all interior colleges. Our training programs not only provide valuable experience, but also facilitate internships for hands-on execution. After completing our programs, we certify interns to be fit for being hired by other companies. Don't miss out on this opportunity to gain a competitive edge!</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29600"/>
          </a:xfrm>
          <a:prstGeom prst="rect">
            <a:avLst/>
          </a:prstGeom>
          <a:solidFill>
            <a:srgbClr val="FFF8F0"/>
          </a:solidFill>
          <a:ln w="13811">
            <a:solidFill>
              <a:srgbClr val="E5E0DF"/>
            </a:solidFill>
            <a:prstDash val="solid"/>
          </a:ln>
        </p:spPr>
        <p:txBody>
          <a:bodyPr/>
          <a:lstStyle/>
          <a:p>
            <a:endParaRPr lang="en-IN"/>
          </a:p>
        </p:txBody>
      </p:sp>
      <p:sp>
        <p:nvSpPr>
          <p:cNvPr id="4" name="Text 2"/>
          <p:cNvSpPr/>
          <p:nvPr/>
        </p:nvSpPr>
        <p:spPr>
          <a:xfrm>
            <a:off x="2037993" y="1716881"/>
            <a:ext cx="9350454" cy="694373"/>
          </a:xfrm>
          <a:prstGeom prst="rect">
            <a:avLst/>
          </a:prstGeom>
          <a:noFill/>
          <a:ln/>
        </p:spPr>
        <p:txBody>
          <a:bodyPr wrap="none" rtlCol="0" anchor="t"/>
          <a:lstStyle/>
          <a:p>
            <a:pPr marL="0" indent="0">
              <a:lnSpc>
                <a:spcPts val="5468"/>
              </a:lnSpc>
              <a:buNone/>
            </a:pPr>
            <a:r>
              <a:rPr lang="en-US" sz="4374" kern="0" spc="-131" dirty="0">
                <a:solidFill>
                  <a:srgbClr val="2C3F42"/>
                </a:solidFill>
                <a:latin typeface="Bitter" pitchFamily="34" charset="0"/>
                <a:ea typeface="Bitter" pitchFamily="34" charset="-122"/>
                <a:cs typeface="Bitter" pitchFamily="34" charset="-120"/>
              </a:rPr>
              <a:t>Future Prospects and Growth Potential</a:t>
            </a:r>
            <a:endParaRPr lang="en-US" sz="4374" dirty="0"/>
          </a:p>
        </p:txBody>
      </p:sp>
      <p:sp>
        <p:nvSpPr>
          <p:cNvPr id="5" name="Text 3"/>
          <p:cNvSpPr/>
          <p:nvPr/>
        </p:nvSpPr>
        <p:spPr>
          <a:xfrm>
            <a:off x="2037993" y="2855595"/>
            <a:ext cx="10554414" cy="710803"/>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GRIHAMM has tremendous growth potential in the interior industry through its innovative platform and user-friendly and hassle-free design experience.</a:t>
            </a:r>
            <a:endParaRPr lang="en-US" sz="1750" dirty="0"/>
          </a:p>
        </p:txBody>
      </p:sp>
      <p:sp>
        <p:nvSpPr>
          <p:cNvPr id="6" name="Text 4"/>
          <p:cNvSpPr/>
          <p:nvPr/>
        </p:nvSpPr>
        <p:spPr>
          <a:xfrm>
            <a:off x="2037993" y="4038481"/>
            <a:ext cx="2666286" cy="416481"/>
          </a:xfrm>
          <a:prstGeom prst="rect">
            <a:avLst/>
          </a:prstGeom>
          <a:noFill/>
          <a:ln/>
        </p:spPr>
        <p:txBody>
          <a:bodyPr wrap="none" rtlCol="0" anchor="t"/>
          <a:lstStyle/>
          <a:p>
            <a:pPr marL="0" indent="0">
              <a:lnSpc>
                <a:spcPts val="3281"/>
              </a:lnSpc>
              <a:buNone/>
            </a:pPr>
            <a:endParaRPr lang="en-US" sz="2624" dirty="0"/>
          </a:p>
        </p:txBody>
      </p:sp>
      <p:sp>
        <p:nvSpPr>
          <p:cNvPr id="7" name="Text 5"/>
          <p:cNvSpPr/>
          <p:nvPr/>
        </p:nvSpPr>
        <p:spPr>
          <a:xfrm>
            <a:off x="2037993" y="4677132"/>
            <a:ext cx="2221944" cy="347186"/>
          </a:xfrm>
          <a:prstGeom prst="rect">
            <a:avLst/>
          </a:prstGeom>
          <a:noFill/>
          <a:ln/>
        </p:spPr>
        <p:txBody>
          <a:bodyPr wrap="none" rtlCol="0" anchor="t"/>
          <a:lstStyle/>
          <a:p>
            <a:pPr marL="0" indent="0">
              <a:lnSpc>
                <a:spcPts val="2734"/>
              </a:lnSpc>
              <a:buNone/>
            </a:pPr>
            <a:r>
              <a:rPr lang="en-US" sz="2187" kern="0" spc="-66" dirty="0">
                <a:solidFill>
                  <a:srgbClr val="2C3F42"/>
                </a:solidFill>
                <a:latin typeface="Bitter" pitchFamily="34" charset="0"/>
                <a:ea typeface="Bitter" pitchFamily="34" charset="-122"/>
                <a:cs typeface="Bitter" pitchFamily="34" charset="-120"/>
              </a:rPr>
              <a:t>Market Growth</a:t>
            </a:r>
            <a:endParaRPr lang="en-US" sz="2187" dirty="0"/>
          </a:p>
        </p:txBody>
      </p:sp>
      <p:sp>
        <p:nvSpPr>
          <p:cNvPr id="8" name="Text 6"/>
          <p:cNvSpPr/>
          <p:nvPr/>
        </p:nvSpPr>
        <p:spPr>
          <a:xfrm>
            <a:off x="2037993" y="5246489"/>
            <a:ext cx="3156347" cy="1066205"/>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GRIHAMM has an expanding and growing market in the interior design industry.</a:t>
            </a:r>
            <a:endParaRPr lang="en-US" sz="1750" dirty="0"/>
          </a:p>
        </p:txBody>
      </p:sp>
      <p:sp>
        <p:nvSpPr>
          <p:cNvPr id="9" name="Text 7"/>
          <p:cNvSpPr/>
          <p:nvPr/>
        </p:nvSpPr>
        <p:spPr>
          <a:xfrm>
            <a:off x="5743932" y="4038481"/>
            <a:ext cx="2666286" cy="416481"/>
          </a:xfrm>
          <a:prstGeom prst="rect">
            <a:avLst/>
          </a:prstGeom>
          <a:noFill/>
          <a:ln/>
        </p:spPr>
        <p:txBody>
          <a:bodyPr wrap="none" rtlCol="0" anchor="t"/>
          <a:lstStyle/>
          <a:p>
            <a:pPr marL="0" indent="0">
              <a:lnSpc>
                <a:spcPts val="3281"/>
              </a:lnSpc>
              <a:buNone/>
            </a:pPr>
            <a:endParaRPr lang="en-US" sz="2624" dirty="0"/>
          </a:p>
        </p:txBody>
      </p:sp>
      <p:sp>
        <p:nvSpPr>
          <p:cNvPr id="10" name="Text 8"/>
          <p:cNvSpPr/>
          <p:nvPr/>
        </p:nvSpPr>
        <p:spPr>
          <a:xfrm>
            <a:off x="5743932" y="4677132"/>
            <a:ext cx="2221944" cy="347186"/>
          </a:xfrm>
          <a:prstGeom prst="rect">
            <a:avLst/>
          </a:prstGeom>
          <a:noFill/>
          <a:ln/>
        </p:spPr>
        <p:txBody>
          <a:bodyPr wrap="none" rtlCol="0" anchor="t"/>
          <a:lstStyle/>
          <a:p>
            <a:pPr marL="0" indent="0">
              <a:lnSpc>
                <a:spcPts val="2734"/>
              </a:lnSpc>
              <a:buNone/>
            </a:pPr>
            <a:r>
              <a:rPr lang="en-US" sz="2187" kern="0" spc="-66" dirty="0">
                <a:solidFill>
                  <a:srgbClr val="2C3F42"/>
                </a:solidFill>
                <a:latin typeface="Bitter" pitchFamily="34" charset="0"/>
                <a:ea typeface="Bitter" pitchFamily="34" charset="-122"/>
                <a:cs typeface="Bitter" pitchFamily="34" charset="-120"/>
              </a:rPr>
              <a:t>Big Data Analytics</a:t>
            </a:r>
            <a:endParaRPr lang="en-US" sz="2187" dirty="0"/>
          </a:p>
        </p:txBody>
      </p:sp>
      <p:sp>
        <p:nvSpPr>
          <p:cNvPr id="11" name="Text 9"/>
          <p:cNvSpPr/>
          <p:nvPr/>
        </p:nvSpPr>
        <p:spPr>
          <a:xfrm>
            <a:off x="5743932" y="5246489"/>
            <a:ext cx="3156347" cy="1066205"/>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GRIHAMM can utilize analytics to provide insights and improve the design experience.</a:t>
            </a:r>
            <a:endParaRPr lang="en-US" sz="1750" dirty="0"/>
          </a:p>
        </p:txBody>
      </p:sp>
      <p:sp>
        <p:nvSpPr>
          <p:cNvPr id="12" name="Text 10"/>
          <p:cNvSpPr/>
          <p:nvPr/>
        </p:nvSpPr>
        <p:spPr>
          <a:xfrm>
            <a:off x="9449872" y="4038481"/>
            <a:ext cx="2666286" cy="416481"/>
          </a:xfrm>
          <a:prstGeom prst="rect">
            <a:avLst/>
          </a:prstGeom>
          <a:noFill/>
          <a:ln/>
        </p:spPr>
        <p:txBody>
          <a:bodyPr wrap="none" rtlCol="0" anchor="t"/>
          <a:lstStyle/>
          <a:p>
            <a:pPr marL="0" indent="0">
              <a:lnSpc>
                <a:spcPts val="3281"/>
              </a:lnSpc>
              <a:buNone/>
            </a:pPr>
            <a:endParaRPr lang="en-US" sz="2624" dirty="0"/>
          </a:p>
        </p:txBody>
      </p:sp>
      <p:sp>
        <p:nvSpPr>
          <p:cNvPr id="13" name="Text 11"/>
          <p:cNvSpPr/>
          <p:nvPr/>
        </p:nvSpPr>
        <p:spPr>
          <a:xfrm>
            <a:off x="9449872" y="4677132"/>
            <a:ext cx="2221944" cy="347186"/>
          </a:xfrm>
          <a:prstGeom prst="rect">
            <a:avLst/>
          </a:prstGeom>
          <a:noFill/>
          <a:ln/>
        </p:spPr>
        <p:txBody>
          <a:bodyPr wrap="none" rtlCol="0" anchor="t"/>
          <a:lstStyle/>
          <a:p>
            <a:pPr marL="0" indent="0">
              <a:lnSpc>
                <a:spcPts val="2734"/>
              </a:lnSpc>
              <a:buNone/>
            </a:pPr>
            <a:r>
              <a:rPr lang="en-US" sz="2187" kern="0" spc="-66" dirty="0">
                <a:solidFill>
                  <a:srgbClr val="2C3F42"/>
                </a:solidFill>
                <a:latin typeface="Bitter" pitchFamily="34" charset="0"/>
                <a:ea typeface="Bitter" pitchFamily="34" charset="-122"/>
                <a:cs typeface="Bitter" pitchFamily="34" charset="-120"/>
              </a:rPr>
              <a:t>Revenue Growth</a:t>
            </a:r>
            <a:endParaRPr lang="en-US" sz="2187" dirty="0"/>
          </a:p>
        </p:txBody>
      </p:sp>
      <p:sp>
        <p:nvSpPr>
          <p:cNvPr id="14" name="Text 12"/>
          <p:cNvSpPr/>
          <p:nvPr/>
        </p:nvSpPr>
        <p:spPr>
          <a:xfrm>
            <a:off x="9449872" y="5246489"/>
            <a:ext cx="3156347" cy="1066205"/>
          </a:xfrm>
          <a:prstGeom prst="rect">
            <a:avLst/>
          </a:prstGeom>
          <a:noFill/>
          <a:ln/>
        </p:spPr>
        <p:txBody>
          <a:bodyPr wrap="square" rtlCol="0" anchor="t"/>
          <a:lstStyle/>
          <a:p>
            <a:pPr marL="0" indent="0">
              <a:lnSpc>
                <a:spcPts val="2799"/>
              </a:lnSpc>
              <a:buNone/>
            </a:pPr>
            <a:r>
              <a:rPr lang="en-US" sz="1750" kern="0" spc="-35" dirty="0">
                <a:solidFill>
                  <a:srgbClr val="2B2E3C"/>
                </a:solidFill>
                <a:latin typeface="Open Sans" pitchFamily="34" charset="0"/>
                <a:ea typeface="Open Sans" pitchFamily="34" charset="-122"/>
                <a:cs typeface="Open Sans" pitchFamily="34" charset="-120"/>
              </a:rPr>
              <a:t>GRIHAMM's revenue will grow as the platform becomes more popular and usage increases.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70200"/>
          </a:xfrm>
          <a:prstGeom prst="rect">
            <a:avLst/>
          </a:prstGeom>
          <a:solidFill>
            <a:srgbClr val="FFF8F0"/>
          </a:solidFill>
          <a:ln w="10597">
            <a:solidFill>
              <a:srgbClr val="E5E0DF"/>
            </a:solidFill>
            <a:prstDash val="solid"/>
          </a:ln>
        </p:spPr>
        <p:txBody>
          <a:bodyPr/>
          <a:lstStyle/>
          <a:p>
            <a:endParaRPr lang="en-IN"/>
          </a:p>
        </p:txBody>
      </p:sp>
      <p:sp>
        <p:nvSpPr>
          <p:cNvPr id="4" name="Text 2"/>
          <p:cNvSpPr/>
          <p:nvPr/>
        </p:nvSpPr>
        <p:spPr>
          <a:xfrm>
            <a:off x="3281601" y="619720"/>
            <a:ext cx="8067080"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1 MONTH PROJECTION ASSUMING 1 PROJECT VALUE OF 300000</a:t>
            </a:r>
            <a:endParaRPr lang="en-US" sz="1337" dirty="0"/>
          </a:p>
        </p:txBody>
      </p:sp>
      <p:sp>
        <p:nvSpPr>
          <p:cNvPr id="5" name="Shape 3"/>
          <p:cNvSpPr/>
          <p:nvPr/>
        </p:nvSpPr>
        <p:spPr>
          <a:xfrm>
            <a:off x="3281601" y="1082278"/>
            <a:ext cx="8067080" cy="6720959"/>
          </a:xfrm>
          <a:prstGeom prst="roundRect">
            <a:avLst>
              <a:gd name="adj" fmla="val 1137"/>
            </a:avLst>
          </a:prstGeom>
          <a:noFill/>
          <a:ln w="10597">
            <a:solidFill>
              <a:srgbClr val="000000">
                <a:alpha val="8000"/>
              </a:srgbClr>
            </a:solidFill>
            <a:prstDash val="solid"/>
          </a:ln>
        </p:spPr>
        <p:txBody>
          <a:bodyPr/>
          <a:lstStyle/>
          <a:p>
            <a:endParaRPr lang="en-IN"/>
          </a:p>
        </p:txBody>
      </p:sp>
      <p:sp>
        <p:nvSpPr>
          <p:cNvPr id="6" name="Shape 4"/>
          <p:cNvSpPr/>
          <p:nvPr/>
        </p:nvSpPr>
        <p:spPr>
          <a:xfrm>
            <a:off x="3292197" y="1092875"/>
            <a:ext cx="8045887" cy="1305163"/>
          </a:xfrm>
          <a:prstGeom prst="rect">
            <a:avLst/>
          </a:prstGeom>
          <a:solidFill>
            <a:srgbClr val="FFFFFF">
              <a:alpha val="4000"/>
            </a:srgbClr>
          </a:solidFill>
          <a:ln/>
        </p:spPr>
        <p:txBody>
          <a:bodyPr/>
          <a:lstStyle/>
          <a:p>
            <a:endParaRPr lang="en-IN"/>
          </a:p>
        </p:txBody>
      </p:sp>
      <p:sp>
        <p:nvSpPr>
          <p:cNvPr id="7" name="Text 5"/>
          <p:cNvSpPr/>
          <p:nvPr/>
        </p:nvSpPr>
        <p:spPr>
          <a:xfrm>
            <a:off x="3462218" y="1202293"/>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City</a:t>
            </a:r>
            <a:endParaRPr lang="en-US" sz="1337" dirty="0"/>
          </a:p>
        </p:txBody>
      </p:sp>
      <p:sp>
        <p:nvSpPr>
          <p:cNvPr id="8" name="Text 6"/>
          <p:cNvSpPr/>
          <p:nvPr/>
        </p:nvSpPr>
        <p:spPr>
          <a:xfrm>
            <a:off x="5075158" y="1202293"/>
            <a:ext cx="1261943" cy="1086326"/>
          </a:xfrm>
          <a:prstGeom prst="rect">
            <a:avLst/>
          </a:prstGeom>
          <a:noFill/>
          <a:ln/>
        </p:spPr>
        <p:txBody>
          <a:bodyPr wrap="squar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Number of Projects BOOKING per Month</a:t>
            </a:r>
            <a:endParaRPr lang="en-US" sz="1337" dirty="0"/>
          </a:p>
        </p:txBody>
      </p:sp>
      <p:sp>
        <p:nvSpPr>
          <p:cNvPr id="9" name="Text 7"/>
          <p:cNvSpPr/>
          <p:nvPr/>
        </p:nvSpPr>
        <p:spPr>
          <a:xfrm>
            <a:off x="6684288" y="1202293"/>
            <a:ext cx="1261943" cy="814745"/>
          </a:xfrm>
          <a:prstGeom prst="rect">
            <a:avLst/>
          </a:prstGeom>
          <a:noFill/>
          <a:ln/>
        </p:spPr>
        <p:txBody>
          <a:bodyPr wrap="squar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Project Value BOOOKING per Month</a:t>
            </a:r>
            <a:endParaRPr lang="en-US" sz="1337" dirty="0"/>
          </a:p>
        </p:txBody>
      </p:sp>
      <p:sp>
        <p:nvSpPr>
          <p:cNvPr id="10" name="Text 8"/>
          <p:cNvSpPr/>
          <p:nvPr/>
        </p:nvSpPr>
        <p:spPr>
          <a:xfrm>
            <a:off x="8293418" y="1202293"/>
            <a:ext cx="1261943" cy="543163"/>
          </a:xfrm>
          <a:prstGeom prst="rect">
            <a:avLst/>
          </a:prstGeom>
          <a:noFill/>
          <a:ln/>
        </p:spPr>
        <p:txBody>
          <a:bodyPr wrap="squar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Yearly Projections</a:t>
            </a:r>
            <a:endParaRPr lang="en-US" sz="1337" dirty="0"/>
          </a:p>
        </p:txBody>
      </p:sp>
      <p:sp>
        <p:nvSpPr>
          <p:cNvPr id="11" name="Text 9"/>
          <p:cNvSpPr/>
          <p:nvPr/>
        </p:nvSpPr>
        <p:spPr>
          <a:xfrm>
            <a:off x="9902547" y="1202293"/>
            <a:ext cx="1265753" cy="271582"/>
          </a:xfrm>
          <a:prstGeom prst="rect">
            <a:avLst/>
          </a:prstGeom>
          <a:noFill/>
          <a:ln/>
        </p:spPr>
        <p:txBody>
          <a:bodyPr wrap="none" rtlCol="0" anchor="t"/>
          <a:lstStyle/>
          <a:p>
            <a:pPr marL="0" indent="0">
              <a:lnSpc>
                <a:spcPts val="2140"/>
              </a:lnSpc>
              <a:buNone/>
            </a:pPr>
            <a:endParaRPr lang="en-US" sz="1337" dirty="0"/>
          </a:p>
        </p:txBody>
      </p:sp>
      <p:sp>
        <p:nvSpPr>
          <p:cNvPr id="12" name="Shape 10"/>
          <p:cNvSpPr/>
          <p:nvPr/>
        </p:nvSpPr>
        <p:spPr>
          <a:xfrm>
            <a:off x="3292197" y="2398038"/>
            <a:ext cx="8045887" cy="490418"/>
          </a:xfrm>
          <a:prstGeom prst="rect">
            <a:avLst/>
          </a:prstGeom>
          <a:solidFill>
            <a:srgbClr val="000000">
              <a:alpha val="4000"/>
            </a:srgbClr>
          </a:solidFill>
          <a:ln/>
        </p:spPr>
        <p:txBody>
          <a:bodyPr/>
          <a:lstStyle/>
          <a:p>
            <a:endParaRPr lang="en-IN"/>
          </a:p>
        </p:txBody>
      </p:sp>
      <p:sp>
        <p:nvSpPr>
          <p:cNvPr id="13" name="Text 11"/>
          <p:cNvSpPr/>
          <p:nvPr/>
        </p:nvSpPr>
        <p:spPr>
          <a:xfrm>
            <a:off x="3462218" y="2507456"/>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Bangalore</a:t>
            </a:r>
            <a:endParaRPr lang="en-US" sz="1337" dirty="0"/>
          </a:p>
        </p:txBody>
      </p:sp>
      <p:sp>
        <p:nvSpPr>
          <p:cNvPr id="14" name="Text 12"/>
          <p:cNvSpPr/>
          <p:nvPr/>
        </p:nvSpPr>
        <p:spPr>
          <a:xfrm>
            <a:off x="5075158" y="2507456"/>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15" name="Text 13"/>
          <p:cNvSpPr/>
          <p:nvPr/>
        </p:nvSpPr>
        <p:spPr>
          <a:xfrm>
            <a:off x="6684288" y="2507456"/>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16" name="Text 14"/>
          <p:cNvSpPr/>
          <p:nvPr/>
        </p:nvSpPr>
        <p:spPr>
          <a:xfrm>
            <a:off x="8293418" y="2507456"/>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17" name="Text 15"/>
          <p:cNvSpPr/>
          <p:nvPr/>
        </p:nvSpPr>
        <p:spPr>
          <a:xfrm>
            <a:off x="9902547" y="2507456"/>
            <a:ext cx="1265753" cy="271582"/>
          </a:xfrm>
          <a:prstGeom prst="rect">
            <a:avLst/>
          </a:prstGeom>
          <a:noFill/>
          <a:ln/>
        </p:spPr>
        <p:txBody>
          <a:bodyPr wrap="none" rtlCol="0" anchor="t"/>
          <a:lstStyle/>
          <a:p>
            <a:pPr marL="0" indent="0">
              <a:lnSpc>
                <a:spcPts val="2140"/>
              </a:lnSpc>
              <a:buNone/>
            </a:pPr>
            <a:endParaRPr lang="en-US" sz="1337" dirty="0"/>
          </a:p>
        </p:txBody>
      </p:sp>
      <p:sp>
        <p:nvSpPr>
          <p:cNvPr id="18" name="Shape 16"/>
          <p:cNvSpPr/>
          <p:nvPr/>
        </p:nvSpPr>
        <p:spPr>
          <a:xfrm>
            <a:off x="3292197" y="2888456"/>
            <a:ext cx="8045887" cy="490418"/>
          </a:xfrm>
          <a:prstGeom prst="rect">
            <a:avLst/>
          </a:prstGeom>
          <a:solidFill>
            <a:srgbClr val="FFFFFF">
              <a:alpha val="4000"/>
            </a:srgbClr>
          </a:solidFill>
          <a:ln/>
        </p:spPr>
        <p:txBody>
          <a:bodyPr/>
          <a:lstStyle/>
          <a:p>
            <a:endParaRPr lang="en-IN"/>
          </a:p>
        </p:txBody>
      </p:sp>
      <p:sp>
        <p:nvSpPr>
          <p:cNvPr id="19" name="Text 17"/>
          <p:cNvSpPr/>
          <p:nvPr/>
        </p:nvSpPr>
        <p:spPr>
          <a:xfrm>
            <a:off x="3462218" y="2997875"/>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Pune</a:t>
            </a:r>
            <a:endParaRPr lang="en-US" sz="1337" dirty="0"/>
          </a:p>
        </p:txBody>
      </p:sp>
      <p:sp>
        <p:nvSpPr>
          <p:cNvPr id="20" name="Text 18"/>
          <p:cNvSpPr/>
          <p:nvPr/>
        </p:nvSpPr>
        <p:spPr>
          <a:xfrm>
            <a:off x="5075158" y="2997875"/>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21" name="Text 19"/>
          <p:cNvSpPr/>
          <p:nvPr/>
        </p:nvSpPr>
        <p:spPr>
          <a:xfrm>
            <a:off x="6684288" y="2997875"/>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22" name="Text 20"/>
          <p:cNvSpPr/>
          <p:nvPr/>
        </p:nvSpPr>
        <p:spPr>
          <a:xfrm>
            <a:off x="8293418" y="2997875"/>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23" name="Text 21"/>
          <p:cNvSpPr/>
          <p:nvPr/>
        </p:nvSpPr>
        <p:spPr>
          <a:xfrm>
            <a:off x="9902547" y="2997875"/>
            <a:ext cx="1265753" cy="271582"/>
          </a:xfrm>
          <a:prstGeom prst="rect">
            <a:avLst/>
          </a:prstGeom>
          <a:noFill/>
          <a:ln/>
        </p:spPr>
        <p:txBody>
          <a:bodyPr wrap="none" rtlCol="0" anchor="t"/>
          <a:lstStyle/>
          <a:p>
            <a:pPr marL="0" indent="0">
              <a:lnSpc>
                <a:spcPts val="2140"/>
              </a:lnSpc>
              <a:buNone/>
            </a:pPr>
            <a:endParaRPr lang="en-US" sz="1337" dirty="0"/>
          </a:p>
        </p:txBody>
      </p:sp>
      <p:sp>
        <p:nvSpPr>
          <p:cNvPr id="24" name="Shape 22"/>
          <p:cNvSpPr/>
          <p:nvPr/>
        </p:nvSpPr>
        <p:spPr>
          <a:xfrm>
            <a:off x="3292197" y="3378875"/>
            <a:ext cx="8045887" cy="490418"/>
          </a:xfrm>
          <a:prstGeom prst="rect">
            <a:avLst/>
          </a:prstGeom>
          <a:solidFill>
            <a:srgbClr val="000000">
              <a:alpha val="4000"/>
            </a:srgbClr>
          </a:solidFill>
          <a:ln/>
        </p:spPr>
        <p:txBody>
          <a:bodyPr/>
          <a:lstStyle/>
          <a:p>
            <a:endParaRPr lang="en-IN"/>
          </a:p>
        </p:txBody>
      </p:sp>
      <p:sp>
        <p:nvSpPr>
          <p:cNvPr id="25" name="Text 23"/>
          <p:cNvSpPr/>
          <p:nvPr/>
        </p:nvSpPr>
        <p:spPr>
          <a:xfrm>
            <a:off x="3462218" y="3488293"/>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Chennai</a:t>
            </a:r>
            <a:endParaRPr lang="en-US" sz="1337" dirty="0"/>
          </a:p>
        </p:txBody>
      </p:sp>
      <p:sp>
        <p:nvSpPr>
          <p:cNvPr id="26" name="Text 24"/>
          <p:cNvSpPr/>
          <p:nvPr/>
        </p:nvSpPr>
        <p:spPr>
          <a:xfrm>
            <a:off x="5075158" y="3488293"/>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27" name="Text 25"/>
          <p:cNvSpPr/>
          <p:nvPr/>
        </p:nvSpPr>
        <p:spPr>
          <a:xfrm>
            <a:off x="6684288" y="3488293"/>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28" name="Text 26"/>
          <p:cNvSpPr/>
          <p:nvPr/>
        </p:nvSpPr>
        <p:spPr>
          <a:xfrm>
            <a:off x="8293418" y="3488293"/>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29" name="Text 27"/>
          <p:cNvSpPr/>
          <p:nvPr/>
        </p:nvSpPr>
        <p:spPr>
          <a:xfrm>
            <a:off x="9902547" y="3488293"/>
            <a:ext cx="1265753" cy="271582"/>
          </a:xfrm>
          <a:prstGeom prst="rect">
            <a:avLst/>
          </a:prstGeom>
          <a:noFill/>
          <a:ln/>
        </p:spPr>
        <p:txBody>
          <a:bodyPr wrap="none" rtlCol="0" anchor="t"/>
          <a:lstStyle/>
          <a:p>
            <a:pPr marL="0" indent="0">
              <a:lnSpc>
                <a:spcPts val="2140"/>
              </a:lnSpc>
              <a:buNone/>
            </a:pPr>
            <a:endParaRPr lang="en-US" sz="1337" dirty="0"/>
          </a:p>
        </p:txBody>
      </p:sp>
      <p:sp>
        <p:nvSpPr>
          <p:cNvPr id="30" name="Shape 28"/>
          <p:cNvSpPr/>
          <p:nvPr/>
        </p:nvSpPr>
        <p:spPr>
          <a:xfrm>
            <a:off x="3292197" y="3869293"/>
            <a:ext cx="8045887" cy="490418"/>
          </a:xfrm>
          <a:prstGeom prst="rect">
            <a:avLst/>
          </a:prstGeom>
          <a:solidFill>
            <a:srgbClr val="FFFFFF">
              <a:alpha val="4000"/>
            </a:srgbClr>
          </a:solidFill>
          <a:ln/>
        </p:spPr>
        <p:txBody>
          <a:bodyPr/>
          <a:lstStyle/>
          <a:p>
            <a:endParaRPr lang="en-IN"/>
          </a:p>
        </p:txBody>
      </p:sp>
      <p:sp>
        <p:nvSpPr>
          <p:cNvPr id="31" name="Text 29"/>
          <p:cNvSpPr/>
          <p:nvPr/>
        </p:nvSpPr>
        <p:spPr>
          <a:xfrm>
            <a:off x="3462218" y="3978712"/>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Hyderabad</a:t>
            </a:r>
            <a:endParaRPr lang="en-US" sz="1337" dirty="0"/>
          </a:p>
        </p:txBody>
      </p:sp>
      <p:sp>
        <p:nvSpPr>
          <p:cNvPr id="32" name="Text 30"/>
          <p:cNvSpPr/>
          <p:nvPr/>
        </p:nvSpPr>
        <p:spPr>
          <a:xfrm>
            <a:off x="5075158" y="3978712"/>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33" name="Text 31"/>
          <p:cNvSpPr/>
          <p:nvPr/>
        </p:nvSpPr>
        <p:spPr>
          <a:xfrm>
            <a:off x="6684288" y="3978712"/>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34" name="Text 32"/>
          <p:cNvSpPr/>
          <p:nvPr/>
        </p:nvSpPr>
        <p:spPr>
          <a:xfrm>
            <a:off x="8293418" y="3978712"/>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35" name="Text 33"/>
          <p:cNvSpPr/>
          <p:nvPr/>
        </p:nvSpPr>
        <p:spPr>
          <a:xfrm>
            <a:off x="9902547" y="3978712"/>
            <a:ext cx="1265753" cy="271582"/>
          </a:xfrm>
          <a:prstGeom prst="rect">
            <a:avLst/>
          </a:prstGeom>
          <a:noFill/>
          <a:ln/>
        </p:spPr>
        <p:txBody>
          <a:bodyPr wrap="none" rtlCol="0" anchor="t"/>
          <a:lstStyle/>
          <a:p>
            <a:pPr marL="0" indent="0">
              <a:lnSpc>
                <a:spcPts val="2140"/>
              </a:lnSpc>
              <a:buNone/>
            </a:pPr>
            <a:endParaRPr lang="en-US" sz="1337" dirty="0"/>
          </a:p>
        </p:txBody>
      </p:sp>
      <p:sp>
        <p:nvSpPr>
          <p:cNvPr id="36" name="Shape 34"/>
          <p:cNvSpPr/>
          <p:nvPr/>
        </p:nvSpPr>
        <p:spPr>
          <a:xfrm>
            <a:off x="3292197" y="4359712"/>
            <a:ext cx="8045887" cy="490418"/>
          </a:xfrm>
          <a:prstGeom prst="rect">
            <a:avLst/>
          </a:prstGeom>
          <a:solidFill>
            <a:srgbClr val="000000">
              <a:alpha val="4000"/>
            </a:srgbClr>
          </a:solidFill>
          <a:ln/>
        </p:spPr>
        <p:txBody>
          <a:bodyPr/>
          <a:lstStyle/>
          <a:p>
            <a:endParaRPr lang="en-IN"/>
          </a:p>
        </p:txBody>
      </p:sp>
      <p:sp>
        <p:nvSpPr>
          <p:cNvPr id="37" name="Text 35"/>
          <p:cNvSpPr/>
          <p:nvPr/>
        </p:nvSpPr>
        <p:spPr>
          <a:xfrm>
            <a:off x="3462218" y="4469130"/>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Goa</a:t>
            </a:r>
            <a:endParaRPr lang="en-US" sz="1337" dirty="0"/>
          </a:p>
        </p:txBody>
      </p:sp>
      <p:sp>
        <p:nvSpPr>
          <p:cNvPr id="38" name="Text 36"/>
          <p:cNvSpPr/>
          <p:nvPr/>
        </p:nvSpPr>
        <p:spPr>
          <a:xfrm>
            <a:off x="5075158" y="4469130"/>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39" name="Text 37"/>
          <p:cNvSpPr/>
          <p:nvPr/>
        </p:nvSpPr>
        <p:spPr>
          <a:xfrm>
            <a:off x="6684288" y="4469130"/>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40" name="Text 38"/>
          <p:cNvSpPr/>
          <p:nvPr/>
        </p:nvSpPr>
        <p:spPr>
          <a:xfrm>
            <a:off x="8293418" y="4469130"/>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41" name="Text 39"/>
          <p:cNvSpPr/>
          <p:nvPr/>
        </p:nvSpPr>
        <p:spPr>
          <a:xfrm>
            <a:off x="9902547" y="4469130"/>
            <a:ext cx="1265753" cy="271582"/>
          </a:xfrm>
          <a:prstGeom prst="rect">
            <a:avLst/>
          </a:prstGeom>
          <a:noFill/>
          <a:ln/>
        </p:spPr>
        <p:txBody>
          <a:bodyPr wrap="none" rtlCol="0" anchor="t"/>
          <a:lstStyle/>
          <a:p>
            <a:pPr marL="0" indent="0">
              <a:lnSpc>
                <a:spcPts val="2140"/>
              </a:lnSpc>
              <a:buNone/>
            </a:pPr>
            <a:endParaRPr lang="en-US" sz="1337" dirty="0"/>
          </a:p>
        </p:txBody>
      </p:sp>
      <p:sp>
        <p:nvSpPr>
          <p:cNvPr id="42" name="Shape 40"/>
          <p:cNvSpPr/>
          <p:nvPr/>
        </p:nvSpPr>
        <p:spPr>
          <a:xfrm>
            <a:off x="3292197" y="4850130"/>
            <a:ext cx="8045887" cy="490418"/>
          </a:xfrm>
          <a:prstGeom prst="rect">
            <a:avLst/>
          </a:prstGeom>
          <a:solidFill>
            <a:srgbClr val="FFFFFF">
              <a:alpha val="4000"/>
            </a:srgbClr>
          </a:solidFill>
          <a:ln/>
        </p:spPr>
        <p:txBody>
          <a:bodyPr/>
          <a:lstStyle/>
          <a:p>
            <a:endParaRPr lang="en-IN"/>
          </a:p>
        </p:txBody>
      </p:sp>
      <p:sp>
        <p:nvSpPr>
          <p:cNvPr id="43" name="Text 41"/>
          <p:cNvSpPr/>
          <p:nvPr/>
        </p:nvSpPr>
        <p:spPr>
          <a:xfrm>
            <a:off x="3462218" y="4959548"/>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Surat</a:t>
            </a:r>
            <a:endParaRPr lang="en-US" sz="1337" dirty="0"/>
          </a:p>
        </p:txBody>
      </p:sp>
      <p:sp>
        <p:nvSpPr>
          <p:cNvPr id="44" name="Text 42"/>
          <p:cNvSpPr/>
          <p:nvPr/>
        </p:nvSpPr>
        <p:spPr>
          <a:xfrm>
            <a:off x="5075158" y="4959548"/>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45" name="Text 43"/>
          <p:cNvSpPr/>
          <p:nvPr/>
        </p:nvSpPr>
        <p:spPr>
          <a:xfrm>
            <a:off x="6684288" y="4959548"/>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46" name="Text 44"/>
          <p:cNvSpPr/>
          <p:nvPr/>
        </p:nvSpPr>
        <p:spPr>
          <a:xfrm>
            <a:off x="8293418" y="4959548"/>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47" name="Text 45"/>
          <p:cNvSpPr/>
          <p:nvPr/>
        </p:nvSpPr>
        <p:spPr>
          <a:xfrm>
            <a:off x="9902547" y="4959548"/>
            <a:ext cx="1265753" cy="271582"/>
          </a:xfrm>
          <a:prstGeom prst="rect">
            <a:avLst/>
          </a:prstGeom>
          <a:noFill/>
          <a:ln/>
        </p:spPr>
        <p:txBody>
          <a:bodyPr wrap="none" rtlCol="0" anchor="t"/>
          <a:lstStyle/>
          <a:p>
            <a:pPr marL="0" indent="0">
              <a:lnSpc>
                <a:spcPts val="2140"/>
              </a:lnSpc>
              <a:buNone/>
            </a:pPr>
            <a:endParaRPr lang="en-US" sz="1337" dirty="0"/>
          </a:p>
        </p:txBody>
      </p:sp>
      <p:sp>
        <p:nvSpPr>
          <p:cNvPr id="48" name="Shape 46"/>
          <p:cNvSpPr/>
          <p:nvPr/>
        </p:nvSpPr>
        <p:spPr>
          <a:xfrm>
            <a:off x="3292197" y="5340548"/>
            <a:ext cx="8045887" cy="490418"/>
          </a:xfrm>
          <a:prstGeom prst="rect">
            <a:avLst/>
          </a:prstGeom>
          <a:solidFill>
            <a:srgbClr val="000000">
              <a:alpha val="4000"/>
            </a:srgbClr>
          </a:solidFill>
          <a:ln/>
        </p:spPr>
        <p:txBody>
          <a:bodyPr/>
          <a:lstStyle/>
          <a:p>
            <a:endParaRPr lang="en-IN"/>
          </a:p>
        </p:txBody>
      </p:sp>
      <p:sp>
        <p:nvSpPr>
          <p:cNvPr id="49" name="Text 47"/>
          <p:cNvSpPr/>
          <p:nvPr/>
        </p:nvSpPr>
        <p:spPr>
          <a:xfrm>
            <a:off x="3462218" y="5449967"/>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Indore</a:t>
            </a:r>
            <a:endParaRPr lang="en-US" sz="1337" dirty="0"/>
          </a:p>
        </p:txBody>
      </p:sp>
      <p:sp>
        <p:nvSpPr>
          <p:cNvPr id="50" name="Text 48"/>
          <p:cNvSpPr/>
          <p:nvPr/>
        </p:nvSpPr>
        <p:spPr>
          <a:xfrm>
            <a:off x="5075158" y="5449967"/>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51" name="Text 49"/>
          <p:cNvSpPr/>
          <p:nvPr/>
        </p:nvSpPr>
        <p:spPr>
          <a:xfrm>
            <a:off x="6684288" y="5449967"/>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52" name="Text 50"/>
          <p:cNvSpPr/>
          <p:nvPr/>
        </p:nvSpPr>
        <p:spPr>
          <a:xfrm>
            <a:off x="8293418" y="5449967"/>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53" name="Text 51"/>
          <p:cNvSpPr/>
          <p:nvPr/>
        </p:nvSpPr>
        <p:spPr>
          <a:xfrm>
            <a:off x="9902547" y="5449967"/>
            <a:ext cx="1265753" cy="271582"/>
          </a:xfrm>
          <a:prstGeom prst="rect">
            <a:avLst/>
          </a:prstGeom>
          <a:noFill/>
          <a:ln/>
        </p:spPr>
        <p:txBody>
          <a:bodyPr wrap="none" rtlCol="0" anchor="t"/>
          <a:lstStyle/>
          <a:p>
            <a:pPr marL="0" indent="0">
              <a:lnSpc>
                <a:spcPts val="2140"/>
              </a:lnSpc>
              <a:buNone/>
            </a:pPr>
            <a:endParaRPr lang="en-US" sz="1337" dirty="0"/>
          </a:p>
        </p:txBody>
      </p:sp>
      <p:sp>
        <p:nvSpPr>
          <p:cNvPr id="54" name="Shape 52"/>
          <p:cNvSpPr/>
          <p:nvPr/>
        </p:nvSpPr>
        <p:spPr>
          <a:xfrm>
            <a:off x="3292197" y="5830967"/>
            <a:ext cx="8045887" cy="490418"/>
          </a:xfrm>
          <a:prstGeom prst="rect">
            <a:avLst/>
          </a:prstGeom>
          <a:solidFill>
            <a:srgbClr val="FFFFFF">
              <a:alpha val="4000"/>
            </a:srgbClr>
          </a:solidFill>
          <a:ln/>
        </p:spPr>
        <p:txBody>
          <a:bodyPr/>
          <a:lstStyle/>
          <a:p>
            <a:endParaRPr lang="en-IN"/>
          </a:p>
        </p:txBody>
      </p:sp>
      <p:sp>
        <p:nvSpPr>
          <p:cNvPr id="55" name="Text 53"/>
          <p:cNvSpPr/>
          <p:nvPr/>
        </p:nvSpPr>
        <p:spPr>
          <a:xfrm>
            <a:off x="3462218" y="5940385"/>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Nagpur</a:t>
            </a:r>
            <a:endParaRPr lang="en-US" sz="1337" dirty="0"/>
          </a:p>
        </p:txBody>
      </p:sp>
      <p:sp>
        <p:nvSpPr>
          <p:cNvPr id="56" name="Text 54"/>
          <p:cNvSpPr/>
          <p:nvPr/>
        </p:nvSpPr>
        <p:spPr>
          <a:xfrm>
            <a:off x="5075158" y="5940385"/>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57" name="Text 55"/>
          <p:cNvSpPr/>
          <p:nvPr/>
        </p:nvSpPr>
        <p:spPr>
          <a:xfrm>
            <a:off x="6684288" y="5940385"/>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58" name="Text 56"/>
          <p:cNvSpPr/>
          <p:nvPr/>
        </p:nvSpPr>
        <p:spPr>
          <a:xfrm>
            <a:off x="8293418" y="5940385"/>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59" name="Text 57"/>
          <p:cNvSpPr/>
          <p:nvPr/>
        </p:nvSpPr>
        <p:spPr>
          <a:xfrm>
            <a:off x="9902547" y="5940385"/>
            <a:ext cx="1265753" cy="271582"/>
          </a:xfrm>
          <a:prstGeom prst="rect">
            <a:avLst/>
          </a:prstGeom>
          <a:noFill/>
          <a:ln/>
        </p:spPr>
        <p:txBody>
          <a:bodyPr wrap="none" rtlCol="0" anchor="t"/>
          <a:lstStyle/>
          <a:p>
            <a:pPr marL="0" indent="0">
              <a:lnSpc>
                <a:spcPts val="2140"/>
              </a:lnSpc>
              <a:buNone/>
            </a:pPr>
            <a:endParaRPr lang="en-US" sz="1337" dirty="0"/>
          </a:p>
        </p:txBody>
      </p:sp>
      <p:sp>
        <p:nvSpPr>
          <p:cNvPr id="60" name="Shape 58"/>
          <p:cNvSpPr/>
          <p:nvPr/>
        </p:nvSpPr>
        <p:spPr>
          <a:xfrm>
            <a:off x="3292197" y="6321385"/>
            <a:ext cx="8045887" cy="490418"/>
          </a:xfrm>
          <a:prstGeom prst="rect">
            <a:avLst/>
          </a:prstGeom>
          <a:solidFill>
            <a:srgbClr val="000000">
              <a:alpha val="4000"/>
            </a:srgbClr>
          </a:solidFill>
          <a:ln/>
        </p:spPr>
        <p:txBody>
          <a:bodyPr/>
          <a:lstStyle/>
          <a:p>
            <a:endParaRPr lang="en-IN"/>
          </a:p>
        </p:txBody>
      </p:sp>
      <p:sp>
        <p:nvSpPr>
          <p:cNvPr id="61" name="Text 59"/>
          <p:cNvSpPr/>
          <p:nvPr/>
        </p:nvSpPr>
        <p:spPr>
          <a:xfrm>
            <a:off x="3462218" y="6430804"/>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Cochin</a:t>
            </a:r>
            <a:endParaRPr lang="en-US" sz="1337" dirty="0"/>
          </a:p>
        </p:txBody>
      </p:sp>
      <p:sp>
        <p:nvSpPr>
          <p:cNvPr id="62" name="Text 60"/>
          <p:cNvSpPr/>
          <p:nvPr/>
        </p:nvSpPr>
        <p:spPr>
          <a:xfrm>
            <a:off x="5075158" y="6430804"/>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63" name="Text 61"/>
          <p:cNvSpPr/>
          <p:nvPr/>
        </p:nvSpPr>
        <p:spPr>
          <a:xfrm>
            <a:off x="6684288" y="6430804"/>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64" name="Text 62"/>
          <p:cNvSpPr/>
          <p:nvPr/>
        </p:nvSpPr>
        <p:spPr>
          <a:xfrm>
            <a:off x="8293418" y="6430804"/>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65" name="Text 63"/>
          <p:cNvSpPr/>
          <p:nvPr/>
        </p:nvSpPr>
        <p:spPr>
          <a:xfrm>
            <a:off x="9902547" y="6430804"/>
            <a:ext cx="1265753" cy="271582"/>
          </a:xfrm>
          <a:prstGeom prst="rect">
            <a:avLst/>
          </a:prstGeom>
          <a:noFill/>
          <a:ln/>
        </p:spPr>
        <p:txBody>
          <a:bodyPr wrap="none" rtlCol="0" anchor="t"/>
          <a:lstStyle/>
          <a:p>
            <a:pPr marL="0" indent="0">
              <a:lnSpc>
                <a:spcPts val="2140"/>
              </a:lnSpc>
              <a:buNone/>
            </a:pPr>
            <a:endParaRPr lang="en-US" sz="1337" dirty="0"/>
          </a:p>
        </p:txBody>
      </p:sp>
      <p:sp>
        <p:nvSpPr>
          <p:cNvPr id="66" name="Shape 64"/>
          <p:cNvSpPr/>
          <p:nvPr/>
        </p:nvSpPr>
        <p:spPr>
          <a:xfrm>
            <a:off x="3292197" y="6811804"/>
            <a:ext cx="8045887" cy="490418"/>
          </a:xfrm>
          <a:prstGeom prst="rect">
            <a:avLst/>
          </a:prstGeom>
          <a:solidFill>
            <a:srgbClr val="FFFFFF">
              <a:alpha val="4000"/>
            </a:srgbClr>
          </a:solidFill>
          <a:ln/>
        </p:spPr>
        <p:txBody>
          <a:bodyPr/>
          <a:lstStyle/>
          <a:p>
            <a:endParaRPr lang="en-IN"/>
          </a:p>
        </p:txBody>
      </p:sp>
      <p:sp>
        <p:nvSpPr>
          <p:cNvPr id="67" name="Text 65"/>
          <p:cNvSpPr/>
          <p:nvPr/>
        </p:nvSpPr>
        <p:spPr>
          <a:xfrm>
            <a:off x="3462218" y="6921222"/>
            <a:ext cx="126575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Ahmedabad</a:t>
            </a:r>
            <a:endParaRPr lang="en-US" sz="1337" dirty="0"/>
          </a:p>
        </p:txBody>
      </p:sp>
      <p:sp>
        <p:nvSpPr>
          <p:cNvPr id="68" name="Text 66"/>
          <p:cNvSpPr/>
          <p:nvPr/>
        </p:nvSpPr>
        <p:spPr>
          <a:xfrm>
            <a:off x="5075158" y="6921222"/>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50</a:t>
            </a:r>
            <a:endParaRPr lang="en-US" sz="1337" dirty="0"/>
          </a:p>
        </p:txBody>
      </p:sp>
      <p:sp>
        <p:nvSpPr>
          <p:cNvPr id="69" name="Text 67"/>
          <p:cNvSpPr/>
          <p:nvPr/>
        </p:nvSpPr>
        <p:spPr>
          <a:xfrm>
            <a:off x="6684288" y="6921222"/>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30,00,000</a:t>
            </a:r>
            <a:endParaRPr lang="en-US" sz="1337" dirty="0"/>
          </a:p>
        </p:txBody>
      </p:sp>
      <p:sp>
        <p:nvSpPr>
          <p:cNvPr id="70" name="Text 68"/>
          <p:cNvSpPr/>
          <p:nvPr/>
        </p:nvSpPr>
        <p:spPr>
          <a:xfrm>
            <a:off x="8293418" y="6921222"/>
            <a:ext cx="1261943" cy="271582"/>
          </a:xfrm>
          <a:prstGeom prst="rect">
            <a:avLst/>
          </a:prstGeom>
          <a:noFill/>
          <a:ln/>
        </p:spPr>
        <p:txBody>
          <a:bodyPr wrap="none" rtlCol="0" anchor="t"/>
          <a:lstStyle/>
          <a:p>
            <a:pPr marL="0" indent="0">
              <a:lnSpc>
                <a:spcPts val="2140"/>
              </a:lnSpc>
              <a:buNone/>
            </a:pPr>
            <a:r>
              <a:rPr lang="en-US" sz="1337" kern="0" spc="-27" dirty="0">
                <a:solidFill>
                  <a:srgbClr val="2B2E3C"/>
                </a:solidFill>
                <a:latin typeface="Open Sans" pitchFamily="34" charset="0"/>
                <a:ea typeface="Open Sans" pitchFamily="34" charset="-122"/>
                <a:cs typeface="Open Sans" pitchFamily="34" charset="-120"/>
              </a:rPr>
              <a:t>Rs 18,00,00,000</a:t>
            </a:r>
            <a:endParaRPr lang="en-US" sz="1337" dirty="0"/>
          </a:p>
        </p:txBody>
      </p:sp>
      <p:sp>
        <p:nvSpPr>
          <p:cNvPr id="71" name="Text 69"/>
          <p:cNvSpPr/>
          <p:nvPr/>
        </p:nvSpPr>
        <p:spPr>
          <a:xfrm>
            <a:off x="9902547" y="6921222"/>
            <a:ext cx="1265753" cy="271582"/>
          </a:xfrm>
          <a:prstGeom prst="rect">
            <a:avLst/>
          </a:prstGeom>
          <a:noFill/>
          <a:ln/>
        </p:spPr>
        <p:txBody>
          <a:bodyPr wrap="none" rtlCol="0" anchor="t"/>
          <a:lstStyle/>
          <a:p>
            <a:pPr marL="0" indent="0">
              <a:lnSpc>
                <a:spcPts val="2140"/>
              </a:lnSpc>
              <a:buNone/>
            </a:pPr>
            <a:endParaRPr lang="en-US" sz="1337" dirty="0"/>
          </a:p>
        </p:txBody>
      </p:sp>
      <p:sp>
        <p:nvSpPr>
          <p:cNvPr id="72" name="Shape 70"/>
          <p:cNvSpPr/>
          <p:nvPr/>
        </p:nvSpPr>
        <p:spPr>
          <a:xfrm>
            <a:off x="3292197" y="7302222"/>
            <a:ext cx="8045887" cy="490418"/>
          </a:xfrm>
          <a:prstGeom prst="rect">
            <a:avLst/>
          </a:prstGeom>
          <a:solidFill>
            <a:srgbClr val="000000">
              <a:alpha val="4000"/>
            </a:srgbClr>
          </a:solidFill>
          <a:ln/>
        </p:spPr>
        <p:txBody>
          <a:bodyPr/>
          <a:lstStyle/>
          <a:p>
            <a:endParaRPr lang="en-IN"/>
          </a:p>
        </p:txBody>
      </p:sp>
      <p:sp>
        <p:nvSpPr>
          <p:cNvPr id="73" name="Text 71"/>
          <p:cNvSpPr/>
          <p:nvPr/>
        </p:nvSpPr>
        <p:spPr>
          <a:xfrm>
            <a:off x="3462218" y="7411641"/>
            <a:ext cx="1265753" cy="271582"/>
          </a:xfrm>
          <a:prstGeom prst="rect">
            <a:avLst/>
          </a:prstGeom>
          <a:noFill/>
          <a:ln/>
        </p:spPr>
        <p:txBody>
          <a:bodyPr wrap="none" rtlCol="0" anchor="t"/>
          <a:lstStyle/>
          <a:p>
            <a:pPr marL="0" indent="0">
              <a:lnSpc>
                <a:spcPts val="2140"/>
              </a:lnSpc>
              <a:buNone/>
            </a:pPr>
            <a:endParaRPr lang="en-US" sz="1337" dirty="0"/>
          </a:p>
        </p:txBody>
      </p:sp>
      <p:sp>
        <p:nvSpPr>
          <p:cNvPr id="74" name="Text 72"/>
          <p:cNvSpPr/>
          <p:nvPr/>
        </p:nvSpPr>
        <p:spPr>
          <a:xfrm>
            <a:off x="5075158" y="7411641"/>
            <a:ext cx="1261943" cy="271582"/>
          </a:xfrm>
          <a:prstGeom prst="rect">
            <a:avLst/>
          </a:prstGeom>
          <a:noFill/>
          <a:ln/>
        </p:spPr>
        <p:txBody>
          <a:bodyPr wrap="none" rtlCol="0" anchor="t"/>
          <a:lstStyle/>
          <a:p>
            <a:pPr marL="0" indent="0">
              <a:lnSpc>
                <a:spcPts val="2140"/>
              </a:lnSpc>
              <a:buNone/>
            </a:pPr>
            <a:endParaRPr lang="en-US" sz="1337" dirty="0"/>
          </a:p>
        </p:txBody>
      </p:sp>
      <p:sp>
        <p:nvSpPr>
          <p:cNvPr id="75" name="Text 73"/>
          <p:cNvSpPr/>
          <p:nvPr/>
        </p:nvSpPr>
        <p:spPr>
          <a:xfrm>
            <a:off x="6684288" y="7411641"/>
            <a:ext cx="1261943" cy="271582"/>
          </a:xfrm>
          <a:prstGeom prst="rect">
            <a:avLst/>
          </a:prstGeom>
          <a:noFill/>
          <a:ln/>
        </p:spPr>
        <p:txBody>
          <a:bodyPr wrap="none" rtlCol="0" anchor="t"/>
          <a:lstStyle/>
          <a:p>
            <a:pPr marL="0" indent="0">
              <a:lnSpc>
                <a:spcPts val="2140"/>
              </a:lnSpc>
              <a:buNone/>
            </a:pPr>
            <a:endParaRPr lang="en-US" sz="1337" dirty="0"/>
          </a:p>
        </p:txBody>
      </p:sp>
      <p:sp>
        <p:nvSpPr>
          <p:cNvPr id="76" name="Text 74"/>
          <p:cNvSpPr/>
          <p:nvPr/>
        </p:nvSpPr>
        <p:spPr>
          <a:xfrm>
            <a:off x="8293418" y="7411641"/>
            <a:ext cx="1261943" cy="271582"/>
          </a:xfrm>
          <a:prstGeom prst="rect">
            <a:avLst/>
          </a:prstGeom>
          <a:noFill/>
          <a:ln/>
        </p:spPr>
        <p:txBody>
          <a:bodyPr wrap="none" rtlCol="0" anchor="t"/>
          <a:lstStyle/>
          <a:p>
            <a:pPr marL="0" indent="0">
              <a:lnSpc>
                <a:spcPts val="2140"/>
              </a:lnSpc>
              <a:buNone/>
            </a:pPr>
            <a:endParaRPr lang="en-US" sz="1337" dirty="0"/>
          </a:p>
        </p:txBody>
      </p:sp>
      <p:sp>
        <p:nvSpPr>
          <p:cNvPr id="77" name="Text 75"/>
          <p:cNvSpPr/>
          <p:nvPr/>
        </p:nvSpPr>
        <p:spPr>
          <a:xfrm>
            <a:off x="9902547" y="7411641"/>
            <a:ext cx="1265753" cy="271582"/>
          </a:xfrm>
          <a:prstGeom prst="rect">
            <a:avLst/>
          </a:prstGeom>
          <a:noFill/>
          <a:ln/>
        </p:spPr>
        <p:txBody>
          <a:bodyPr wrap="none" rtlCol="0" anchor="t"/>
          <a:lstStyle/>
          <a:p>
            <a:pPr marL="0" indent="0">
              <a:lnSpc>
                <a:spcPts val="2140"/>
              </a:lnSpc>
              <a:buNone/>
            </a:pPr>
            <a:endParaRPr lang="en-US" sz="133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txBody>
          <a:bodyPr/>
          <a:lstStyle/>
          <a:p>
            <a:endParaRPr lang="en-IN"/>
          </a:p>
        </p:txBody>
      </p:sp>
      <p:sp>
        <p:nvSpPr>
          <p:cNvPr id="3" name="Shape 1"/>
          <p:cNvSpPr/>
          <p:nvPr/>
        </p:nvSpPr>
        <p:spPr>
          <a:xfrm>
            <a:off x="0" y="0"/>
            <a:ext cx="14630400" cy="8229600"/>
          </a:xfrm>
          <a:prstGeom prst="rect">
            <a:avLst/>
          </a:prstGeom>
          <a:solidFill>
            <a:srgbClr val="FFF8F0"/>
          </a:solidFill>
          <a:ln w="13811">
            <a:solidFill>
              <a:srgbClr val="E5E0DF"/>
            </a:solidFill>
            <a:prstDash val="solid"/>
          </a:ln>
        </p:spPr>
        <p:txBody>
          <a:bodyPr/>
          <a:lstStyle/>
          <a:p>
            <a:endParaRPr lang="en-IN"/>
          </a:p>
        </p:txBody>
      </p:sp>
      <p:sp>
        <p:nvSpPr>
          <p:cNvPr id="4" name="Text 2"/>
          <p:cNvSpPr/>
          <p:nvPr/>
        </p:nvSpPr>
        <p:spPr>
          <a:xfrm>
            <a:off x="2037993" y="3767614"/>
            <a:ext cx="4443889" cy="694373"/>
          </a:xfrm>
          <a:prstGeom prst="rect">
            <a:avLst/>
          </a:prstGeom>
          <a:noFill/>
          <a:ln/>
        </p:spPr>
        <p:txBody>
          <a:bodyPr wrap="none" rtlCol="0" anchor="t"/>
          <a:lstStyle/>
          <a:p>
            <a:pPr marL="0" indent="0">
              <a:lnSpc>
                <a:spcPts val="5468"/>
              </a:lnSpc>
              <a:buNone/>
            </a:pPr>
            <a:endParaRPr lang="en-US" sz="4374" dirty="0"/>
          </a:p>
        </p:txBody>
      </p:sp>
      <p:sp>
        <p:nvSpPr>
          <p:cNvPr id="6" name="Rectangle 5">
            <a:extLst>
              <a:ext uri="{FF2B5EF4-FFF2-40B4-BE49-F238E27FC236}">
                <a16:creationId xmlns:a16="http://schemas.microsoft.com/office/drawing/2014/main" id="{70429F7F-5D27-8A4A-A53C-765346B3977A}"/>
              </a:ext>
            </a:extLst>
          </p:cNvPr>
          <p:cNvSpPr/>
          <p:nvPr/>
        </p:nvSpPr>
        <p:spPr>
          <a:xfrm>
            <a:off x="5546865" y="3653135"/>
            <a:ext cx="3536674"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1671</Words>
  <Application>Microsoft Office PowerPoint</Application>
  <PresentationFormat>Custom</PresentationFormat>
  <Paragraphs>176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Bitter</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rimjhim kumar</cp:lastModifiedBy>
  <cp:revision>3</cp:revision>
  <dcterms:created xsi:type="dcterms:W3CDTF">2023-08-27T09:20:36Z</dcterms:created>
  <dcterms:modified xsi:type="dcterms:W3CDTF">2026-04-11T08:41:34Z</dcterms:modified>
</cp:coreProperties>
</file>